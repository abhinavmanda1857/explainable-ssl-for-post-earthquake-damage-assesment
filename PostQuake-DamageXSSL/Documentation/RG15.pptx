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81" r:id="rId14"/>
    <p:sldId id="266" r:id="rId15"/>
    <p:sldId id="267" r:id="rId16"/>
    <p:sldId id="268" r:id="rId17"/>
    <p:sldId id="269" r:id="rId18"/>
    <p:sldId id="270" r:id="rId19"/>
    <p:sldId id="271" r:id="rId20"/>
    <p:sldId id="282" r:id="rId21"/>
    <p:sldId id="283" r:id="rId22"/>
    <p:sldId id="284" r:id="rId23"/>
    <p:sldId id="285" r:id="rId24"/>
    <p:sldId id="286" r:id="rId25"/>
    <p:sldId id="287" r:id="rId26"/>
    <p:sldId id="272" r:id="rId27"/>
    <p:sldId id="275" r:id="rId28"/>
    <p:sldId id="276" r:id="rId29"/>
    <p:sldId id="289" r:id="rId30"/>
    <p:sldId id="290" r:id="rId31"/>
    <p:sldId id="274" r:id="rId32"/>
    <p:sldId id="277" r:id="rId33"/>
    <p:sldId id="278" r:id="rId34"/>
    <p:sldId id="279" r:id="rId35"/>
    <p:sldId id="280" r:id="rId36"/>
  </p:sldIdLst>
  <p:sldSz cx="9144000" cy="6858000"/>
  <p:notesSz cx="9942195" cy="6760845"/>
  <p:embeddedFontLst>
    <p:embeddedFont>
      <p:font typeface="Helvetica Neue" panose="020B0604020202020204"/>
      <p:regular r:id="rId40"/>
      <p:bold r:id="rId41"/>
      <p:italic r:id="rId42"/>
      <p:boldItalic r:id="rId43"/>
    </p:embeddedFont>
    <p:embeddedFont>
      <p:font typeface="Tahoma" panose="020B0604030504040204"/>
      <p:regular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824" userDrawn="1">
          <p15:clr>
            <a:srgbClr val="A4A3A4"/>
          </p15:clr>
        </p15:guide>
        <p15:guide id="2" pos="52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FDD740C-D32F-4F01-9374-D45B8AFD0EE1}" styleName="Table_0">
    <a:wholeTbl>
      <a:tcTxStyle>
        <a:font>
          <a:latin typeface="Helvetica"/>
          <a:ea typeface="Helvetica"/>
          <a:cs typeface="Helvetica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6E6"/>
          </a:solidFill>
        </a:fill>
      </a:tcStyle>
    </a:wholeTbl>
    <a:band1H>
      <a:tcStyle>
        <a:tcBdr/>
        <a:fill>
          <a:solidFill>
            <a:srgbClr val="CACACA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ACACA"/>
          </a:solidFill>
        </a:fill>
      </a:tcStyle>
    </a:band1V>
    <a:band2V>
      <a:tcStyle>
        <a:tcBdr/>
      </a:tcStyle>
    </a:band2V>
    <a:lastCol>
      <a:tcTxStyle b="on">
        <a:font>
          <a:latin typeface="Helvetica"/>
          <a:ea typeface="Helvetica"/>
          <a:cs typeface="Helvetica"/>
        </a:font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>
          <a:latin typeface="Helvetica"/>
          <a:ea typeface="Helvetica"/>
          <a:cs typeface="Helvetica"/>
        </a:font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>
          <a:latin typeface="Helvetica"/>
          <a:ea typeface="Helvetica"/>
          <a:cs typeface="Helvetica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4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>
          <a:latin typeface="Helvetica"/>
          <a:ea typeface="Helvetica"/>
          <a:cs typeface="Helvetica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4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8B96190E-B9D6-440D-9FAF-961801FE8CC0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824"/>
        <p:guide pos="521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82"/>
        <p:guide pos="312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4" Type="http://schemas.openxmlformats.org/officeDocument/2006/relationships/font" Target="fonts/font5.fntdata"/><Relationship Id="rId43" Type="http://schemas.openxmlformats.org/officeDocument/2006/relationships/font" Target="fonts/font4.fntdata"/><Relationship Id="rId42" Type="http://schemas.openxmlformats.org/officeDocument/2006/relationships/font" Target="fonts/font3.fntdata"/><Relationship Id="rId41" Type="http://schemas.openxmlformats.org/officeDocument/2006/relationships/font" Target="fonts/font2.fntdata"/><Relationship Id="rId40" Type="http://schemas.openxmlformats.org/officeDocument/2006/relationships/font" Target="fonts/font1.fntdata"/><Relationship Id="rId4" Type="http://schemas.openxmlformats.org/officeDocument/2006/relationships/notesMaster" Target="notesMasters/notesMaster1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type="hdr" idx="2"/>
          </p:nvPr>
        </p:nvSpPr>
        <p:spPr>
          <a:xfrm>
            <a:off x="0" y="0"/>
            <a:ext cx="4332288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type="dt" idx="10"/>
          </p:nvPr>
        </p:nvSpPr>
        <p:spPr>
          <a:xfrm>
            <a:off x="5635625" y="0"/>
            <a:ext cx="433387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/>
        </p:txBody>
      </p:sp>
      <p:sp>
        <p:nvSpPr>
          <p:cNvPr id="5" name="Google Shape;5;n"/>
          <p:cNvSpPr/>
          <p:nvPr>
            <p:ph type="sldImg" idx="3"/>
          </p:nvPr>
        </p:nvSpPr>
        <p:spPr>
          <a:xfrm>
            <a:off x="3230563" y="500063"/>
            <a:ext cx="3400425" cy="25511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/>
          <p:nvPr>
            <p:ph type="body" idx="1"/>
          </p:nvPr>
        </p:nvSpPr>
        <p:spPr>
          <a:xfrm>
            <a:off x="1300163" y="3221038"/>
            <a:ext cx="7369175" cy="305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spcBef>
                <a:spcPts val="30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E36C0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type="ftr" idx="11"/>
          </p:nvPr>
        </p:nvSpPr>
        <p:spPr>
          <a:xfrm>
            <a:off x="0" y="6438900"/>
            <a:ext cx="4332288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type="sldNum" idx="12"/>
          </p:nvPr>
        </p:nvSpPr>
        <p:spPr>
          <a:xfrm>
            <a:off x="5635625" y="6438900"/>
            <a:ext cx="433387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</a:fld>
            <a:endParaRPr sz="1200" b="0" i="0" u="none" strike="noStrike" cap="none">
              <a:solidFill>
                <a:schemeClr val="dk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:notes"/>
          <p:cNvSpPr/>
          <p:nvPr>
            <p:ph type="sldImg" idx="2"/>
          </p:nvPr>
        </p:nvSpPr>
        <p:spPr>
          <a:xfrm>
            <a:off x="3230563" y="500063"/>
            <a:ext cx="3400425" cy="25511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" name="Google Shape;25;p1:notes"/>
          <p:cNvSpPr txBox="1"/>
          <p:nvPr>
            <p:ph type="body" idx="1"/>
          </p:nvPr>
        </p:nvSpPr>
        <p:spPr>
          <a:xfrm>
            <a:off x="1300163" y="3221038"/>
            <a:ext cx="7369175" cy="305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/>
          <p:nvPr>
            <p:ph type="sldImg" idx="2"/>
          </p:nvPr>
        </p:nvSpPr>
        <p:spPr>
          <a:xfrm>
            <a:off x="3230563" y="500063"/>
            <a:ext cx="3400425" cy="25511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7" name="Google Shape;37;p2:notes"/>
          <p:cNvSpPr txBox="1"/>
          <p:nvPr>
            <p:ph type="body" idx="1"/>
          </p:nvPr>
        </p:nvSpPr>
        <p:spPr>
          <a:xfrm>
            <a:off x="1300163" y="3221038"/>
            <a:ext cx="7369175" cy="305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" name="Google Shape;38;p2:notes"/>
          <p:cNvSpPr txBox="1"/>
          <p:nvPr>
            <p:ph type="sldNum" idx="12"/>
          </p:nvPr>
        </p:nvSpPr>
        <p:spPr>
          <a:xfrm>
            <a:off x="5635625" y="6438900"/>
            <a:ext cx="433387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:notes"/>
          <p:cNvSpPr txBox="1"/>
          <p:nvPr>
            <p:ph type="body" idx="1"/>
          </p:nvPr>
        </p:nvSpPr>
        <p:spPr>
          <a:xfrm>
            <a:off x="1300163" y="3221038"/>
            <a:ext cx="7369175" cy="305117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</a:p>
        </p:txBody>
      </p:sp>
      <p:sp>
        <p:nvSpPr>
          <p:cNvPr id="44" name="Google Shape;44;p3:notes"/>
          <p:cNvSpPr/>
          <p:nvPr>
            <p:ph type="sldImg" idx="2"/>
          </p:nvPr>
        </p:nvSpPr>
        <p:spPr>
          <a:xfrm>
            <a:off x="3230563" y="500063"/>
            <a:ext cx="3400425" cy="25511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:notes"/>
          <p:cNvSpPr txBox="1"/>
          <p:nvPr>
            <p:ph type="body" idx="1"/>
          </p:nvPr>
        </p:nvSpPr>
        <p:spPr>
          <a:xfrm>
            <a:off x="1300163" y="3221038"/>
            <a:ext cx="7369175" cy="305117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</a:p>
        </p:txBody>
      </p:sp>
      <p:sp>
        <p:nvSpPr>
          <p:cNvPr id="50" name="Google Shape;50;p4:notes"/>
          <p:cNvSpPr/>
          <p:nvPr>
            <p:ph type="sldImg" idx="2"/>
          </p:nvPr>
        </p:nvSpPr>
        <p:spPr>
          <a:xfrm>
            <a:off x="3230563" y="500063"/>
            <a:ext cx="3400425" cy="25511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:notes"/>
          <p:cNvSpPr txBox="1"/>
          <p:nvPr>
            <p:ph type="body" idx="1"/>
          </p:nvPr>
        </p:nvSpPr>
        <p:spPr>
          <a:xfrm>
            <a:off x="1300163" y="3221038"/>
            <a:ext cx="7369175" cy="305117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</a:p>
        </p:txBody>
      </p:sp>
      <p:sp>
        <p:nvSpPr>
          <p:cNvPr id="56" name="Google Shape;56;p5:notes"/>
          <p:cNvSpPr/>
          <p:nvPr>
            <p:ph type="sldImg" idx="2"/>
          </p:nvPr>
        </p:nvSpPr>
        <p:spPr>
          <a:xfrm>
            <a:off x="3230563" y="500063"/>
            <a:ext cx="3400425" cy="25511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6:notes"/>
          <p:cNvSpPr txBox="1"/>
          <p:nvPr>
            <p:ph type="body" idx="1"/>
          </p:nvPr>
        </p:nvSpPr>
        <p:spPr>
          <a:xfrm>
            <a:off x="1300163" y="3221038"/>
            <a:ext cx="7369175" cy="305117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</a:p>
        </p:txBody>
      </p:sp>
      <p:sp>
        <p:nvSpPr>
          <p:cNvPr id="62" name="Google Shape;62;p6:notes"/>
          <p:cNvSpPr/>
          <p:nvPr>
            <p:ph type="sldImg" idx="2"/>
          </p:nvPr>
        </p:nvSpPr>
        <p:spPr>
          <a:xfrm>
            <a:off x="3230563" y="500063"/>
            <a:ext cx="3400425" cy="25511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7:notes"/>
          <p:cNvSpPr txBox="1"/>
          <p:nvPr>
            <p:ph type="body" idx="1"/>
          </p:nvPr>
        </p:nvSpPr>
        <p:spPr>
          <a:xfrm>
            <a:off x="1300163" y="3221038"/>
            <a:ext cx="7369175" cy="305117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</a:p>
        </p:txBody>
      </p:sp>
      <p:sp>
        <p:nvSpPr>
          <p:cNvPr id="69" name="Google Shape;69;p7:notes"/>
          <p:cNvSpPr/>
          <p:nvPr>
            <p:ph type="sldImg" idx="2"/>
          </p:nvPr>
        </p:nvSpPr>
        <p:spPr>
          <a:xfrm>
            <a:off x="3230563" y="500063"/>
            <a:ext cx="3400425" cy="25511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:notes"/>
          <p:cNvSpPr txBox="1"/>
          <p:nvPr>
            <p:ph type="body" idx="1"/>
          </p:nvPr>
        </p:nvSpPr>
        <p:spPr>
          <a:xfrm>
            <a:off x="1300163" y="3221038"/>
            <a:ext cx="7369175" cy="305117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</a:p>
        </p:txBody>
      </p:sp>
      <p:sp>
        <p:nvSpPr>
          <p:cNvPr id="76" name="Google Shape;76;p8:notes"/>
          <p:cNvSpPr/>
          <p:nvPr>
            <p:ph type="sldImg" idx="2"/>
          </p:nvPr>
        </p:nvSpPr>
        <p:spPr>
          <a:xfrm>
            <a:off x="3230563" y="500063"/>
            <a:ext cx="3400425" cy="25511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9:notes"/>
          <p:cNvSpPr txBox="1"/>
          <p:nvPr>
            <p:ph type="body" idx="1"/>
          </p:nvPr>
        </p:nvSpPr>
        <p:spPr>
          <a:xfrm>
            <a:off x="1300163" y="3221038"/>
            <a:ext cx="7369175" cy="305117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</a:p>
        </p:txBody>
      </p:sp>
      <p:sp>
        <p:nvSpPr>
          <p:cNvPr id="83" name="Google Shape;83;p9:notes"/>
          <p:cNvSpPr/>
          <p:nvPr>
            <p:ph type="sldImg" idx="2"/>
          </p:nvPr>
        </p:nvSpPr>
        <p:spPr>
          <a:xfrm>
            <a:off x="3230563" y="500063"/>
            <a:ext cx="3400425" cy="25511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0:notes"/>
          <p:cNvSpPr txBox="1"/>
          <p:nvPr>
            <p:ph type="body" idx="1"/>
          </p:nvPr>
        </p:nvSpPr>
        <p:spPr>
          <a:xfrm>
            <a:off x="1300163" y="3221038"/>
            <a:ext cx="7369175" cy="305117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</a:p>
        </p:txBody>
      </p:sp>
      <p:sp>
        <p:nvSpPr>
          <p:cNvPr id="90" name="Google Shape;90;p10:notes"/>
          <p:cNvSpPr/>
          <p:nvPr>
            <p:ph type="sldImg" idx="2"/>
          </p:nvPr>
        </p:nvSpPr>
        <p:spPr>
          <a:xfrm>
            <a:off x="3230563" y="500063"/>
            <a:ext cx="3400425" cy="25511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1:notes"/>
          <p:cNvSpPr txBox="1"/>
          <p:nvPr>
            <p:ph type="body" idx="1"/>
          </p:nvPr>
        </p:nvSpPr>
        <p:spPr>
          <a:xfrm>
            <a:off x="1300163" y="3221038"/>
            <a:ext cx="7369175" cy="305117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</a:p>
        </p:txBody>
      </p:sp>
      <p:sp>
        <p:nvSpPr>
          <p:cNvPr id="97" name="Google Shape;97;p11:notes"/>
          <p:cNvSpPr/>
          <p:nvPr>
            <p:ph type="sldImg" idx="2"/>
          </p:nvPr>
        </p:nvSpPr>
        <p:spPr>
          <a:xfrm>
            <a:off x="3230563" y="500063"/>
            <a:ext cx="3400425" cy="25511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:notes"/>
          <p:cNvSpPr txBox="1"/>
          <p:nvPr>
            <p:ph type="body" idx="1"/>
          </p:nvPr>
        </p:nvSpPr>
        <p:spPr>
          <a:xfrm>
            <a:off x="1300163" y="3221038"/>
            <a:ext cx="7369175" cy="305117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</a:p>
        </p:txBody>
      </p:sp>
      <p:sp>
        <p:nvSpPr>
          <p:cNvPr id="103" name="Google Shape;103;p12:notes"/>
          <p:cNvSpPr/>
          <p:nvPr>
            <p:ph type="sldImg" idx="2"/>
          </p:nvPr>
        </p:nvSpPr>
        <p:spPr>
          <a:xfrm>
            <a:off x="3230563" y="500063"/>
            <a:ext cx="3400425" cy="25511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:notes"/>
          <p:cNvSpPr txBox="1"/>
          <p:nvPr>
            <p:ph type="body" idx="1"/>
          </p:nvPr>
        </p:nvSpPr>
        <p:spPr>
          <a:xfrm>
            <a:off x="1300163" y="3221038"/>
            <a:ext cx="7369175" cy="305117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</a:p>
        </p:txBody>
      </p:sp>
      <p:sp>
        <p:nvSpPr>
          <p:cNvPr id="109" name="Google Shape;109;p13:notes"/>
          <p:cNvSpPr/>
          <p:nvPr>
            <p:ph type="sldImg" idx="2"/>
          </p:nvPr>
        </p:nvSpPr>
        <p:spPr>
          <a:xfrm>
            <a:off x="3230563" y="500063"/>
            <a:ext cx="3400425" cy="25511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4:notes"/>
          <p:cNvSpPr txBox="1"/>
          <p:nvPr>
            <p:ph type="body" idx="1"/>
          </p:nvPr>
        </p:nvSpPr>
        <p:spPr>
          <a:xfrm>
            <a:off x="1300163" y="3221038"/>
            <a:ext cx="7369175" cy="305117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</a:p>
        </p:txBody>
      </p:sp>
      <p:sp>
        <p:nvSpPr>
          <p:cNvPr id="117" name="Google Shape;117;p14:notes"/>
          <p:cNvSpPr/>
          <p:nvPr>
            <p:ph type="sldImg" idx="2"/>
          </p:nvPr>
        </p:nvSpPr>
        <p:spPr>
          <a:xfrm>
            <a:off x="3230563" y="500063"/>
            <a:ext cx="3400425" cy="25511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5:notes"/>
          <p:cNvSpPr txBox="1"/>
          <p:nvPr>
            <p:ph type="body" idx="1"/>
          </p:nvPr>
        </p:nvSpPr>
        <p:spPr>
          <a:xfrm>
            <a:off x="1300163" y="3221038"/>
            <a:ext cx="7369175" cy="305117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</a:p>
        </p:txBody>
      </p:sp>
      <p:sp>
        <p:nvSpPr>
          <p:cNvPr id="124" name="Google Shape;124;p15:notes"/>
          <p:cNvSpPr/>
          <p:nvPr>
            <p:ph type="sldImg" idx="2"/>
          </p:nvPr>
        </p:nvSpPr>
        <p:spPr>
          <a:xfrm>
            <a:off x="3230563" y="500063"/>
            <a:ext cx="3400425" cy="25511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:notes"/>
          <p:cNvSpPr txBox="1"/>
          <p:nvPr>
            <p:ph type="body" idx="1"/>
          </p:nvPr>
        </p:nvSpPr>
        <p:spPr>
          <a:xfrm>
            <a:off x="1300163" y="3221038"/>
            <a:ext cx="7369175" cy="305117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</a:p>
        </p:txBody>
      </p:sp>
      <p:sp>
        <p:nvSpPr>
          <p:cNvPr id="131" name="Google Shape;131;p16:notes"/>
          <p:cNvSpPr/>
          <p:nvPr>
            <p:ph type="sldImg" idx="2"/>
          </p:nvPr>
        </p:nvSpPr>
        <p:spPr>
          <a:xfrm>
            <a:off x="3230563" y="500063"/>
            <a:ext cx="3400425" cy="25511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9:notes"/>
          <p:cNvSpPr txBox="1"/>
          <p:nvPr>
            <p:ph type="body" idx="1"/>
          </p:nvPr>
        </p:nvSpPr>
        <p:spPr>
          <a:xfrm>
            <a:off x="1300163" y="3221038"/>
            <a:ext cx="7369175" cy="305117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</a:p>
        </p:txBody>
      </p:sp>
      <p:sp>
        <p:nvSpPr>
          <p:cNvPr id="137" name="Google Shape;137;p19:notes"/>
          <p:cNvSpPr/>
          <p:nvPr>
            <p:ph type="sldImg" idx="2"/>
          </p:nvPr>
        </p:nvSpPr>
        <p:spPr>
          <a:xfrm>
            <a:off x="3230563" y="500063"/>
            <a:ext cx="3400425" cy="25511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2:notes"/>
          <p:cNvSpPr txBox="1"/>
          <p:nvPr>
            <p:ph type="body" idx="1"/>
          </p:nvPr>
        </p:nvSpPr>
        <p:spPr>
          <a:xfrm>
            <a:off x="1300163" y="3221038"/>
            <a:ext cx="7369175" cy="305117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</a:p>
        </p:txBody>
      </p:sp>
      <p:sp>
        <p:nvSpPr>
          <p:cNvPr id="156" name="Google Shape;156;p22:notes"/>
          <p:cNvSpPr/>
          <p:nvPr>
            <p:ph type="sldImg" idx="2"/>
          </p:nvPr>
        </p:nvSpPr>
        <p:spPr>
          <a:xfrm>
            <a:off x="3230563" y="500063"/>
            <a:ext cx="3400425" cy="25511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3:notes"/>
          <p:cNvSpPr txBox="1"/>
          <p:nvPr>
            <p:ph type="body" idx="1"/>
          </p:nvPr>
        </p:nvSpPr>
        <p:spPr>
          <a:xfrm>
            <a:off x="1300163" y="3221038"/>
            <a:ext cx="7369175" cy="305117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</a:p>
        </p:txBody>
      </p:sp>
      <p:sp>
        <p:nvSpPr>
          <p:cNvPr id="163" name="Google Shape;163;p23:notes"/>
          <p:cNvSpPr/>
          <p:nvPr>
            <p:ph type="sldImg" idx="2"/>
          </p:nvPr>
        </p:nvSpPr>
        <p:spPr>
          <a:xfrm>
            <a:off x="3230563" y="500063"/>
            <a:ext cx="3400425" cy="25511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3:notes"/>
          <p:cNvSpPr txBox="1"/>
          <p:nvPr>
            <p:ph type="body" idx="1"/>
          </p:nvPr>
        </p:nvSpPr>
        <p:spPr>
          <a:xfrm>
            <a:off x="1300163" y="3221038"/>
            <a:ext cx="7369175" cy="305117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</a:p>
        </p:txBody>
      </p:sp>
      <p:sp>
        <p:nvSpPr>
          <p:cNvPr id="163" name="Google Shape;163;p23:notes"/>
          <p:cNvSpPr/>
          <p:nvPr>
            <p:ph type="sldImg" idx="2"/>
          </p:nvPr>
        </p:nvSpPr>
        <p:spPr>
          <a:xfrm>
            <a:off x="3230563" y="500063"/>
            <a:ext cx="3400425" cy="25511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1:notes"/>
          <p:cNvSpPr txBox="1"/>
          <p:nvPr>
            <p:ph type="body" idx="1"/>
          </p:nvPr>
        </p:nvSpPr>
        <p:spPr>
          <a:xfrm>
            <a:off x="1300163" y="3221038"/>
            <a:ext cx="7369175" cy="305117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</a:p>
        </p:txBody>
      </p:sp>
      <p:sp>
        <p:nvSpPr>
          <p:cNvPr id="149" name="Google Shape;149;p21:notes"/>
          <p:cNvSpPr/>
          <p:nvPr>
            <p:ph type="sldImg" idx="2"/>
          </p:nvPr>
        </p:nvSpPr>
        <p:spPr>
          <a:xfrm>
            <a:off x="3230563" y="500063"/>
            <a:ext cx="3400425" cy="25511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5:notes"/>
          <p:cNvSpPr txBox="1"/>
          <p:nvPr>
            <p:ph type="body" idx="1"/>
          </p:nvPr>
        </p:nvSpPr>
        <p:spPr>
          <a:xfrm>
            <a:off x="1300163" y="3221038"/>
            <a:ext cx="7369175" cy="305117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</a:p>
        </p:txBody>
      </p:sp>
      <p:sp>
        <p:nvSpPr>
          <p:cNvPr id="170" name="Google Shape;170;p25:notes"/>
          <p:cNvSpPr/>
          <p:nvPr>
            <p:ph type="sldImg" idx="2"/>
          </p:nvPr>
        </p:nvSpPr>
        <p:spPr>
          <a:xfrm>
            <a:off x="3230563" y="500063"/>
            <a:ext cx="3400425" cy="25511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6:notes"/>
          <p:cNvSpPr txBox="1"/>
          <p:nvPr>
            <p:ph type="body" idx="1"/>
          </p:nvPr>
        </p:nvSpPr>
        <p:spPr>
          <a:xfrm>
            <a:off x="1300163" y="3221038"/>
            <a:ext cx="7369175" cy="305117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</a:p>
        </p:txBody>
      </p:sp>
      <p:sp>
        <p:nvSpPr>
          <p:cNvPr id="176" name="Google Shape;176;p26:notes"/>
          <p:cNvSpPr/>
          <p:nvPr>
            <p:ph type="sldImg" idx="2"/>
          </p:nvPr>
        </p:nvSpPr>
        <p:spPr>
          <a:xfrm>
            <a:off x="3230563" y="500063"/>
            <a:ext cx="3400425" cy="25511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7:notes"/>
          <p:cNvSpPr txBox="1"/>
          <p:nvPr>
            <p:ph type="body" idx="1"/>
          </p:nvPr>
        </p:nvSpPr>
        <p:spPr>
          <a:xfrm>
            <a:off x="1300163" y="3221038"/>
            <a:ext cx="7369175" cy="305117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</a:p>
        </p:txBody>
      </p:sp>
      <p:sp>
        <p:nvSpPr>
          <p:cNvPr id="182" name="Google Shape;182;p27:notes"/>
          <p:cNvSpPr/>
          <p:nvPr>
            <p:ph type="sldImg" idx="2"/>
          </p:nvPr>
        </p:nvSpPr>
        <p:spPr>
          <a:xfrm>
            <a:off x="3230563" y="500063"/>
            <a:ext cx="3400425" cy="25511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8:notes"/>
          <p:cNvSpPr txBox="1"/>
          <p:nvPr>
            <p:ph type="body" idx="1"/>
          </p:nvPr>
        </p:nvSpPr>
        <p:spPr>
          <a:xfrm>
            <a:off x="1300163" y="3221038"/>
            <a:ext cx="7369175" cy="305117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</a:p>
        </p:txBody>
      </p:sp>
      <p:sp>
        <p:nvSpPr>
          <p:cNvPr id="188" name="Google Shape;188;p28:notes"/>
          <p:cNvSpPr/>
          <p:nvPr>
            <p:ph type="sldImg" idx="2"/>
          </p:nvPr>
        </p:nvSpPr>
        <p:spPr>
          <a:xfrm>
            <a:off x="3230563" y="500063"/>
            <a:ext cx="3400425" cy="25511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matchingName="Title Slid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0"/>
          <p:cNvSpPr txBox="1"/>
          <p:nvPr>
            <p:ph type="ctrTitle"/>
          </p:nvPr>
        </p:nvSpPr>
        <p:spPr>
          <a:xfrm>
            <a:off x="755373" y="685800"/>
            <a:ext cx="7901609" cy="1615966"/>
          </a:xfrm>
          <a:prstGeom prst="rect">
            <a:avLst/>
          </a:prstGeom>
          <a:solidFill>
            <a:srgbClr val="D2691E"/>
          </a:solidFill>
          <a:ln w="9525" cap="flat" cmpd="sng">
            <a:solidFill>
              <a:srgbClr val="D2691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1"/>
          <p:cNvSpPr txBox="1"/>
          <p:nvPr>
            <p:ph type="title"/>
          </p:nvPr>
        </p:nvSpPr>
        <p:spPr>
          <a:xfrm>
            <a:off x="40640" y="30480"/>
            <a:ext cx="8328752" cy="694064"/>
          </a:xfrm>
          <a:prstGeom prst="rect">
            <a:avLst/>
          </a:prstGeom>
          <a:solidFill>
            <a:srgbClr val="0037A4"/>
          </a:solidFill>
          <a:ln w="317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1"/>
          <p:cNvSpPr txBox="1"/>
          <p:nvPr>
            <p:ph type="body" idx="1"/>
          </p:nvPr>
        </p:nvSpPr>
        <p:spPr>
          <a:xfrm>
            <a:off x="86197" y="782321"/>
            <a:ext cx="8953500" cy="5976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71475" algn="just">
              <a:lnSpc>
                <a:spcPct val="150000"/>
              </a:lnSpc>
              <a:spcBef>
                <a:spcPts val="630"/>
              </a:spcBef>
              <a:spcAft>
                <a:spcPts val="0"/>
              </a:spcAft>
              <a:buSzPts val="2250"/>
              <a:buChar char="•"/>
              <a:defRPr sz="1800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1pPr>
            <a:lvl2pPr marL="914400" lvl="1" indent="-330200" algn="just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SzPts val="1600"/>
              <a:buChar char="o"/>
              <a:defRPr sz="1600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2pPr>
            <a:lvl3pPr marL="1371600" lvl="2" indent="-304800" algn="just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SzPts val="1200"/>
              <a:buChar char="4"/>
              <a:defRPr sz="1600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3pPr>
            <a:lvl4pPr marL="1828800" lvl="3" indent="-304800" algn="just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SzPts val="1200"/>
              <a:buFont typeface="Helvetica Neue" panose="020B0604020202020204"/>
              <a:buChar char="–"/>
              <a:defRPr sz="1600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4pPr>
            <a:lvl5pPr marL="2286000" lvl="4" indent="-304800" algn="just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SzPts val="1200"/>
              <a:buFont typeface="Helvetica Neue" panose="020B0604020202020204"/>
              <a:buChar char="»"/>
              <a:defRPr sz="1600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5pPr>
            <a:lvl6pPr marL="2743200" lvl="5" indent="-314325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6pPr>
            <a:lvl7pPr marL="3200400" lvl="6" indent="-314325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7pPr>
            <a:lvl8pPr marL="3657600" lvl="7" indent="-314325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8pPr>
            <a:lvl9pPr marL="4114800" lvl="8" indent="-314325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9pPr>
          </a:lstStyle>
          <a:p/>
        </p:txBody>
      </p:sp>
      <p:cxnSp>
        <p:nvCxnSpPr>
          <p:cNvPr id="22" name="Google Shape;22;p31"/>
          <p:cNvCxnSpPr/>
          <p:nvPr/>
        </p:nvCxnSpPr>
        <p:spPr>
          <a:xfrm>
            <a:off x="579120" y="6658235"/>
            <a:ext cx="7934960" cy="0"/>
          </a:xfrm>
          <a:prstGeom prst="straightConnector1">
            <a:avLst/>
          </a:prstGeom>
          <a:solidFill>
            <a:schemeClr val="accent1"/>
          </a:solidFill>
          <a:ln w="9525" cap="flat" cmpd="sng">
            <a:solidFill>
              <a:srgbClr val="005493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9"/>
          <p:cNvSpPr txBox="1"/>
          <p:nvPr>
            <p:ph type="title"/>
          </p:nvPr>
        </p:nvSpPr>
        <p:spPr>
          <a:xfrm>
            <a:off x="30480" y="27846"/>
            <a:ext cx="8328751" cy="694064"/>
          </a:xfrm>
          <a:prstGeom prst="rect">
            <a:avLst/>
          </a:prstGeom>
          <a:solidFill>
            <a:srgbClr val="0037A4"/>
          </a:solidFill>
          <a:ln w="317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lt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00669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00669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00669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00669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1" name="Google Shape;11;p29"/>
          <p:cNvSpPr txBox="1"/>
          <p:nvPr>
            <p:ph type="body" idx="1"/>
          </p:nvPr>
        </p:nvSpPr>
        <p:spPr>
          <a:xfrm>
            <a:off x="86197" y="782321"/>
            <a:ext cx="8953500" cy="5831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71475" algn="just" rtl="0">
              <a:lnSpc>
                <a:spcPct val="150000"/>
              </a:lnSpc>
              <a:spcBef>
                <a:spcPts val="63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1pPr>
            <a:lvl2pPr marL="914400" marR="0" lvl="1" indent="-330200" algn="just" rtl="0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 panose="02070309020205020404"/>
              <a:buChar char="o"/>
              <a:defRPr sz="1600" b="0" i="0" u="none" strike="noStrike" cap="none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2pPr>
            <a:lvl3pPr marL="1371600" marR="0" lvl="2" indent="-304800" algn="just" rtl="0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rgbClr val="009900"/>
              </a:buClr>
              <a:buSzPts val="1200"/>
              <a:buFont typeface="Arimo"/>
              <a:buChar char="4"/>
              <a:defRPr sz="1600" b="0" i="0" u="none" strike="noStrike" cap="none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3pPr>
            <a:lvl4pPr marL="1828800" marR="0" lvl="3" indent="-304800" algn="just" rtl="0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Helvetica Neue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4pPr>
            <a:lvl5pPr marL="2286000" marR="0" lvl="4" indent="-304800" algn="just" rtl="0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rgbClr val="FF0066"/>
              </a:buClr>
              <a:buSzPts val="1200"/>
              <a:buFont typeface="Helvetica Neue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5pPr>
            <a:lvl6pPr marL="2743200" marR="0" lvl="5" indent="-314325" algn="l" rtl="0"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 panose="020B0604020202020204"/>
              <a:buChar char="»"/>
              <a:defRPr sz="1800" b="0" i="0" u="none" strike="noStrike" cap="none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6pPr>
            <a:lvl7pPr marL="3200400" marR="0" lvl="6" indent="-314325" algn="l" rtl="0"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 panose="020B0604020202020204"/>
              <a:buChar char="»"/>
              <a:defRPr sz="1800" b="0" i="0" u="none" strike="noStrike" cap="none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7pPr>
            <a:lvl8pPr marL="3657600" marR="0" lvl="7" indent="-314325" algn="l" rtl="0"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 panose="020B0604020202020204"/>
              <a:buChar char="»"/>
              <a:defRPr sz="1800" b="0" i="0" u="none" strike="noStrike" cap="none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8pPr>
            <a:lvl9pPr marL="4114800" marR="0" lvl="8" indent="-314325" algn="l" rtl="0"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 panose="020B0604020202020204"/>
              <a:buChar char="»"/>
              <a:defRPr sz="1800" b="0" i="0" u="none" strike="noStrike" cap="none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9pPr>
          </a:lstStyle>
          <a:p/>
        </p:txBody>
      </p:sp>
      <p:sp>
        <p:nvSpPr>
          <p:cNvPr id="12" name="Google Shape;12;p29"/>
          <p:cNvSpPr txBox="1"/>
          <p:nvPr/>
        </p:nvSpPr>
        <p:spPr>
          <a:xfrm>
            <a:off x="4259263" y="6126163"/>
            <a:ext cx="1928812" cy="246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Monday, September 8, 2025</a:t>
            </a:r>
            <a:endParaRPr sz="1000" b="1" i="0" u="none" strike="noStrike" cap="none">
              <a:solidFill>
                <a:schemeClr val="lt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  <p:pic>
        <p:nvPicPr>
          <p:cNvPr id="13" name="Google Shape;13;p29" descr="JUIT Office Photos | Glassdoor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49072" y="42901"/>
            <a:ext cx="815248" cy="679009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9"/>
          <p:cNvSpPr txBox="1"/>
          <p:nvPr/>
        </p:nvSpPr>
        <p:spPr>
          <a:xfrm>
            <a:off x="123673" y="6687228"/>
            <a:ext cx="8694256" cy="195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002060"/>
                </a:solidFill>
                <a:latin typeface="Palatino"/>
                <a:ea typeface="Palatino"/>
                <a:cs typeface="Palatino"/>
                <a:sym typeface="Palatino"/>
              </a:rPr>
              <a:t>       </a:t>
            </a:r>
            <a:r>
              <a:rPr lang="en-US" sz="900" b="0" i="0" u="none" strike="noStrike" cap="none">
                <a:solidFill>
                  <a:srgbClr val="002060"/>
                </a:solidFill>
                <a:latin typeface="Palatino"/>
                <a:ea typeface="Palatino"/>
                <a:cs typeface="Palatino"/>
                <a:sym typeface="Palatino"/>
              </a:rPr>
              <a:t>Major Project – I (18B19CI791) Mid-Term Evaluation | Department of CSE &amp; IT | AY 2025-26. </a:t>
            </a:r>
            <a:endParaRPr lang="en-US" sz="900" b="0" i="0" u="none" strike="noStrike" cap="none">
              <a:solidFill>
                <a:srgbClr val="002060"/>
              </a:solidFill>
              <a:latin typeface="Palatino"/>
              <a:ea typeface="Palatino"/>
              <a:cs typeface="Palatino"/>
              <a:sym typeface="Palatino"/>
            </a:endParaRPr>
          </a:p>
        </p:txBody>
      </p:sp>
      <p:sp>
        <p:nvSpPr>
          <p:cNvPr id="15" name="Google Shape;15;p29"/>
          <p:cNvSpPr txBox="1"/>
          <p:nvPr/>
        </p:nvSpPr>
        <p:spPr>
          <a:xfrm>
            <a:off x="8798560" y="6613912"/>
            <a:ext cx="259243" cy="246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50" b="0" i="0" u="none" strike="noStrike" cap="none">
              <a:solidFill>
                <a:srgbClr val="002060"/>
              </a:solidFill>
              <a:latin typeface="Palatino"/>
              <a:ea typeface="Palatino"/>
              <a:cs typeface="Palatino"/>
              <a:sym typeface="Palatino"/>
            </a:endParaRPr>
          </a:p>
        </p:txBody>
      </p:sp>
      <p:sp>
        <p:nvSpPr>
          <p:cNvPr id="16" name="Google Shape;16;p29"/>
          <p:cNvSpPr txBox="1"/>
          <p:nvPr/>
        </p:nvSpPr>
        <p:spPr>
          <a:xfrm>
            <a:off x="8798560" y="6644391"/>
            <a:ext cx="36576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 b="0" i="0" u="none" strike="noStrike" cap="none">
                <a:solidFill>
                  <a:srgbClr val="005493"/>
                </a:solidFill>
                <a:latin typeface="Palatino"/>
                <a:ea typeface="Palatino"/>
                <a:cs typeface="Palatino"/>
                <a:sym typeface="Palatino"/>
              </a:rPr>
            </a:fld>
            <a:r>
              <a:rPr lang="en-US" sz="900" b="0" i="0" u="none" strike="noStrike" cap="none">
                <a:solidFill>
                  <a:srgbClr val="005493"/>
                </a:solidFill>
                <a:latin typeface="Palatino"/>
                <a:ea typeface="Palatino"/>
                <a:cs typeface="Palatino"/>
                <a:sym typeface="Palatino"/>
              </a:rPr>
              <a:t>.</a:t>
            </a:r>
            <a:endParaRPr lang="en-US" sz="900" b="0" i="0" u="none" strike="noStrike" cap="none">
              <a:solidFill>
                <a:srgbClr val="005493"/>
              </a:solidFill>
              <a:latin typeface="Palatino"/>
              <a:ea typeface="Palatino"/>
              <a:cs typeface="Palatino"/>
              <a:sym typeface="Palatino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tags" Target="../tags/tag2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tags" Target="../tags/tag3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tags" Target="../tags/tag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tags" Target="../tags/tag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tags" Target="../tags/tag7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tags" Target="../tags/tag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1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"/>
          <p:cNvSpPr txBox="1"/>
          <p:nvPr>
            <p:ph type="ctrTitle"/>
          </p:nvPr>
        </p:nvSpPr>
        <p:spPr>
          <a:xfrm>
            <a:off x="0" y="3515995"/>
            <a:ext cx="9144000" cy="981710"/>
          </a:xfrm>
          <a:prstGeom prst="rect">
            <a:avLst/>
          </a:prstGeom>
          <a:solidFill>
            <a:srgbClr val="0037A4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20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Explainable Semi-Supervised Learning for Post-Earthquake Building Damage Assessment</a:t>
            </a:r>
            <a:endParaRPr sz="20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/>
          </a:p>
        </p:txBody>
      </p:sp>
      <p:sp>
        <p:nvSpPr>
          <p:cNvPr id="28" name="Google Shape;28;p1"/>
          <p:cNvSpPr/>
          <p:nvPr/>
        </p:nvSpPr>
        <p:spPr>
          <a:xfrm>
            <a:off x="1457427" y="2108091"/>
            <a:ext cx="6229141" cy="1105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Palatino"/>
                <a:ea typeface="Palatino"/>
                <a:cs typeface="Palatino"/>
                <a:sym typeface="Palatino"/>
              </a:rPr>
              <a:t>Major Project - I (18B19CI791) | AY 2025-26</a:t>
            </a:r>
            <a:endParaRPr lang="en-US" sz="2400" b="1" i="0" u="none" strike="noStrike" cap="none">
              <a:solidFill>
                <a:schemeClr val="dk1"/>
              </a:solidFill>
              <a:latin typeface="Palatino"/>
              <a:ea typeface="Palatino"/>
              <a:cs typeface="Palatino"/>
              <a:sym typeface="Palatino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Palatino"/>
                <a:ea typeface="Palatino"/>
                <a:cs typeface="Palatino"/>
                <a:sym typeface="Palatino"/>
              </a:rPr>
              <a:t>End-Term Evaluation | December 2025.</a:t>
            </a:r>
            <a:endParaRPr lang="en-US" sz="2000" b="1" i="0" u="none" strike="noStrike" cap="none">
              <a:solidFill>
                <a:schemeClr val="dk1"/>
              </a:solidFill>
              <a:latin typeface="Palatino"/>
              <a:ea typeface="Palatino"/>
              <a:cs typeface="Palatino"/>
              <a:sym typeface="Palatino"/>
            </a:endParaRPr>
          </a:p>
        </p:txBody>
      </p:sp>
      <p:sp>
        <p:nvSpPr>
          <p:cNvPr id="29" name="Google Shape;29;p1"/>
          <p:cNvSpPr txBox="1"/>
          <p:nvPr/>
        </p:nvSpPr>
        <p:spPr>
          <a:xfrm>
            <a:off x="517798" y="4498606"/>
            <a:ext cx="3620700" cy="24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Group No.: 15 </a:t>
            </a:r>
            <a:endParaRPr lang="en-US" sz="1800" b="1" i="0" u="none" strike="noStrike" cap="none">
              <a:solidFill>
                <a:schemeClr val="dk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Team Member (s)</a:t>
            </a:r>
            <a:endParaRPr sz="1600" b="1">
              <a:solidFill>
                <a:schemeClr val="dk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  <a:p>
            <a:pPr marL="457200" lvl="0" indent="-323850" algn="l" rtl="0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ahoma" panose="020B0604030504040204"/>
              <a:buChar char="●"/>
            </a:pPr>
            <a:r>
              <a:rPr lang="en-US" sz="1500">
                <a:solidFill>
                  <a:schemeClr val="dk1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Khushi Bhasin (221030034) </a:t>
            </a:r>
            <a:endParaRPr lang="en-US" sz="1500">
              <a:solidFill>
                <a:schemeClr val="dk1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  <a:p>
            <a:pPr marL="457200" marR="0" lvl="0" indent="-32385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ahoma" panose="020B0604030504040204"/>
              <a:buChar char="●"/>
            </a:pPr>
            <a:r>
              <a:rPr lang="en-US" sz="1500">
                <a:solidFill>
                  <a:schemeClr val="dk1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Abhinav Manda (221030455)</a:t>
            </a:r>
            <a:endParaRPr lang="en-US" sz="1500">
              <a:solidFill>
                <a:schemeClr val="dk1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  <a:p>
            <a:pPr marL="457200" marR="0" lvl="0" indent="-32385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ahoma" panose="020B0604030504040204"/>
              <a:buChar char="●"/>
            </a:pPr>
            <a:r>
              <a:rPr lang="en-US" sz="1500">
                <a:solidFill>
                  <a:schemeClr val="dk1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Aatesh (221030245)</a:t>
            </a:r>
            <a:endParaRPr lang="en-US" sz="1500">
              <a:solidFill>
                <a:schemeClr val="dk1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  <a:p>
            <a:pPr marL="457200" marR="0" lvl="0" indent="-32385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ahoma" panose="020B0604030504040204"/>
              <a:buChar char="●"/>
            </a:pPr>
            <a:r>
              <a:rPr lang="en-US" sz="1500">
                <a:solidFill>
                  <a:schemeClr val="dk1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Vanshika Sharma (221030331)</a:t>
            </a:r>
            <a:endParaRPr lang="en-US" sz="1500">
              <a:solidFill>
                <a:schemeClr val="dk1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  <p:sp>
        <p:nvSpPr>
          <p:cNvPr id="30" name="Google Shape;30;p1"/>
          <p:cNvSpPr txBox="1"/>
          <p:nvPr/>
        </p:nvSpPr>
        <p:spPr>
          <a:xfrm>
            <a:off x="4871438" y="5041029"/>
            <a:ext cx="4118400" cy="10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Supervisor</a:t>
            </a:r>
            <a:endParaRPr lang="en-US" sz="1600" b="1">
              <a:solidFill>
                <a:schemeClr val="dk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  <a:p>
            <a:pPr marL="342900" marR="0" lvl="0" indent="-342900" algn="l" rtl="0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</a:pPr>
            <a:r>
              <a:rPr lang="en-US" sz="1500">
                <a:solidFill>
                  <a:schemeClr val="dk1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Name:  Dr. Arvind Kumar</a:t>
            </a:r>
            <a:endParaRPr lang="en-US" sz="1500">
              <a:solidFill>
                <a:schemeClr val="dk1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  <a:p>
            <a:pPr marL="357505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Designation: Assistant Professor (SG)</a:t>
            </a:r>
            <a:endParaRPr lang="en-US" sz="1500">
              <a:solidFill>
                <a:schemeClr val="dk1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pic>
        <p:nvPicPr>
          <p:cNvPr id="31" name="Google Shape;31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852492" y="-165253"/>
            <a:ext cx="1178805" cy="895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054901" y="160424"/>
            <a:ext cx="1015707" cy="3454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1" descr="JUIT Office Photos | Glassdoor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1017" y="93342"/>
            <a:ext cx="815248" cy="679009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1"/>
          <p:cNvSpPr txBox="1"/>
          <p:nvPr/>
        </p:nvSpPr>
        <p:spPr>
          <a:xfrm>
            <a:off x="-2" y="601361"/>
            <a:ext cx="9144000" cy="141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>
                <a:solidFill>
                  <a:srgbClr val="000099"/>
                </a:solidFill>
                <a:latin typeface="Palatino"/>
                <a:ea typeface="Palatino"/>
                <a:cs typeface="Palatino"/>
                <a:sym typeface="Palatino"/>
              </a:rPr>
              <a:t>Jaypee University of Information Technology</a:t>
            </a:r>
            <a:endParaRPr lang="en-US" sz="2800" b="1" i="0" u="none" strike="noStrike">
              <a:solidFill>
                <a:srgbClr val="000099"/>
              </a:solidFill>
              <a:latin typeface="Palatino"/>
              <a:ea typeface="Palatino"/>
              <a:cs typeface="Palatino"/>
              <a:sym typeface="Palatino"/>
            </a:endParaRPr>
          </a:p>
          <a:p>
            <a:pPr marL="0" marR="0" lvl="0" indent="0" algn="ctr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600"/>
              <a:buFont typeface="Palatino"/>
              <a:buNone/>
            </a:pPr>
            <a:r>
              <a:rPr lang="en-US" sz="2600" b="1" i="0" u="none" strike="noStrike">
                <a:solidFill>
                  <a:srgbClr val="000099"/>
                </a:solidFill>
                <a:latin typeface="Palatino"/>
                <a:ea typeface="Palatino"/>
                <a:cs typeface="Palatino"/>
                <a:sym typeface="Palatino"/>
              </a:rPr>
              <a:t>Department of Computer Science and Engineering and Information Technology</a:t>
            </a:r>
            <a:endParaRPr sz="2600" b="1" i="0" u="none" strike="noStrike">
              <a:solidFill>
                <a:srgbClr val="002060"/>
              </a:solidFill>
              <a:latin typeface="Palatino"/>
              <a:ea typeface="Palatino"/>
              <a:cs typeface="Palatino"/>
              <a:sym typeface="Palatin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"/>
          <p:cNvSpPr txBox="1"/>
          <p:nvPr>
            <p:ph type="title"/>
          </p:nvPr>
        </p:nvSpPr>
        <p:spPr>
          <a:xfrm>
            <a:off x="40640" y="30480"/>
            <a:ext cx="8328752" cy="694064"/>
          </a:xfrm>
          <a:prstGeom prst="rect">
            <a:avLst/>
          </a:prstGeom>
          <a:solidFill>
            <a:srgbClr val="0037A4"/>
          </a:solidFill>
          <a:ln w="317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90805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Outline</a:t>
            </a:r>
            <a:endParaRPr lang="en-US"/>
          </a:p>
        </p:txBody>
      </p:sp>
      <p:sp>
        <p:nvSpPr>
          <p:cNvPr id="41" name="Google Shape;41;p2"/>
          <p:cNvSpPr txBox="1"/>
          <p:nvPr/>
        </p:nvSpPr>
        <p:spPr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57505" marR="0" lvl="0" indent="-262255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 panose="020B0604020202020204"/>
              <a:buChar char="•"/>
            </a:pPr>
            <a:r>
              <a:rPr lang="en-US">
                <a:solidFill>
                  <a:schemeClr val="dk1"/>
                </a:solidFill>
                <a:latin typeface="Times New Roman" panose="02020603050405020304" charset="0"/>
                <a:ea typeface="Helvetica Neue" panose="020B0604020202020204"/>
                <a:cs typeface="Times New Roman" panose="02020603050405020304" charset="0"/>
                <a:sym typeface="Helvetica Neue" panose="020B0604020202020204"/>
              </a:rPr>
              <a:t>I</a:t>
            </a:r>
            <a:r>
              <a:rPr lang="en-US" sz="1500">
                <a:solidFill>
                  <a:schemeClr val="dk1"/>
                </a:solidFill>
                <a:latin typeface="Times New Roman" panose="02020603050405020304" charset="0"/>
                <a:ea typeface="Helvetica Neue" panose="020B0604020202020204"/>
                <a:cs typeface="Times New Roman" panose="02020603050405020304" charset="0"/>
                <a:sym typeface="Helvetica Neue" panose="020B0604020202020204"/>
              </a:rPr>
              <a:t>ntroduction</a:t>
            </a:r>
            <a:endParaRPr lang="en-US" sz="1500">
              <a:solidFill>
                <a:schemeClr val="dk1"/>
              </a:solidFill>
              <a:latin typeface="Times New Roman" panose="02020603050405020304" charset="0"/>
              <a:ea typeface="Helvetica Neue" panose="020B0604020202020204"/>
              <a:cs typeface="Times New Roman" panose="02020603050405020304" charset="0"/>
              <a:sym typeface="Helvetica Neue" panose="020B0604020202020204"/>
            </a:endParaRPr>
          </a:p>
          <a:p>
            <a:pPr marL="357505" marR="0" lvl="0" indent="-262255" algn="just" rtl="0">
              <a:lnSpc>
                <a:spcPct val="140000"/>
              </a:lnSpc>
              <a:spcBef>
                <a:spcPts val="49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 panose="020B0604020202020204"/>
              <a:buChar char="•"/>
            </a:pPr>
            <a:r>
              <a:rPr lang="en-US" sz="1500">
                <a:solidFill>
                  <a:schemeClr val="dk1"/>
                </a:solidFill>
                <a:latin typeface="Times New Roman" panose="02020603050405020304" charset="0"/>
                <a:ea typeface="Helvetica Neue" panose="020B0604020202020204"/>
                <a:cs typeface="Times New Roman" panose="02020603050405020304" charset="0"/>
                <a:sym typeface="Helvetica Neue" panose="020B0604020202020204"/>
              </a:rPr>
              <a:t>Problem Statement</a:t>
            </a:r>
            <a:endParaRPr lang="en-US" sz="1500">
              <a:solidFill>
                <a:schemeClr val="dk1"/>
              </a:solidFill>
              <a:latin typeface="Times New Roman" panose="02020603050405020304" charset="0"/>
              <a:ea typeface="Helvetica Neue" panose="020B0604020202020204"/>
              <a:cs typeface="Times New Roman" panose="02020603050405020304" charset="0"/>
              <a:sym typeface="Helvetica Neue" panose="020B0604020202020204"/>
            </a:endParaRPr>
          </a:p>
          <a:p>
            <a:pPr marL="357505" marR="0" lvl="0" indent="-262255" algn="just" rtl="0">
              <a:lnSpc>
                <a:spcPct val="140000"/>
              </a:lnSpc>
              <a:spcBef>
                <a:spcPts val="49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 panose="020B0604020202020204"/>
              <a:buChar char="•"/>
            </a:pPr>
            <a:r>
              <a:rPr lang="en-US" sz="1500">
                <a:solidFill>
                  <a:schemeClr val="dk1"/>
                </a:solidFill>
                <a:latin typeface="Times New Roman" panose="02020603050405020304" charset="0"/>
                <a:ea typeface="Helvetica Neue" panose="020B0604020202020204"/>
                <a:cs typeface="Times New Roman" panose="02020603050405020304" charset="0"/>
                <a:sym typeface="Helvetica Neue" panose="020B0604020202020204"/>
              </a:rPr>
              <a:t>Objectives</a:t>
            </a:r>
            <a:endParaRPr lang="en-US" sz="1500">
              <a:solidFill>
                <a:schemeClr val="dk1"/>
              </a:solidFill>
              <a:latin typeface="Times New Roman" panose="02020603050405020304" charset="0"/>
              <a:ea typeface="Helvetica Neue" panose="020B0604020202020204"/>
              <a:cs typeface="Times New Roman" panose="02020603050405020304" charset="0"/>
              <a:sym typeface="Helvetica Neue" panose="020B0604020202020204"/>
            </a:endParaRPr>
          </a:p>
          <a:p>
            <a:pPr marL="357505" marR="0" lvl="0" indent="-262255" algn="just" rtl="0">
              <a:lnSpc>
                <a:spcPct val="140000"/>
              </a:lnSpc>
              <a:spcBef>
                <a:spcPts val="49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 panose="020B0604020202020204"/>
              <a:buChar char="•"/>
            </a:pPr>
            <a:r>
              <a:rPr lang="en-US" sz="1500">
                <a:solidFill>
                  <a:schemeClr val="dk1"/>
                </a:solidFill>
                <a:latin typeface="Times New Roman" panose="02020603050405020304" charset="0"/>
                <a:ea typeface="Helvetica Neue" panose="020B0604020202020204"/>
                <a:cs typeface="Times New Roman" panose="02020603050405020304" charset="0"/>
                <a:sym typeface="Helvetica Neue" panose="020B0604020202020204"/>
              </a:rPr>
              <a:t>Literature Review</a:t>
            </a:r>
            <a:endParaRPr lang="en-US" sz="1500">
              <a:solidFill>
                <a:schemeClr val="dk1"/>
              </a:solidFill>
              <a:latin typeface="Times New Roman" panose="02020603050405020304" charset="0"/>
              <a:ea typeface="Helvetica Neue" panose="020B0604020202020204"/>
              <a:cs typeface="Times New Roman" panose="02020603050405020304" charset="0"/>
              <a:sym typeface="Helvetica Neue" panose="020B0604020202020204"/>
            </a:endParaRPr>
          </a:p>
          <a:p>
            <a:pPr marL="357505" marR="0" lvl="0" indent="-262255" algn="just" rtl="0">
              <a:lnSpc>
                <a:spcPct val="140000"/>
              </a:lnSpc>
              <a:spcBef>
                <a:spcPts val="49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 panose="020B0604020202020204"/>
              <a:buChar char="•"/>
            </a:pPr>
            <a:r>
              <a:rPr lang="en-US" altLang="en-US" sz="1500">
                <a:solidFill>
                  <a:schemeClr val="dk1"/>
                </a:solidFill>
                <a:latin typeface="Times New Roman" panose="02020603050405020304" charset="0"/>
                <a:ea typeface="Helvetica Neue" panose="020B0604020202020204"/>
                <a:cs typeface="Times New Roman" panose="02020603050405020304" charset="0"/>
                <a:sym typeface="Helvetica Neue" panose="020B0604020202020204"/>
              </a:rPr>
              <a:t>Work Done (after Mid-Term Evaluation)</a:t>
            </a:r>
            <a:endParaRPr lang="en-US" altLang="en-US" sz="1500">
              <a:solidFill>
                <a:schemeClr val="dk1"/>
              </a:solidFill>
              <a:latin typeface="Times New Roman" panose="02020603050405020304" charset="0"/>
              <a:ea typeface="Helvetica Neue" panose="020B0604020202020204"/>
              <a:cs typeface="Times New Roman" panose="02020603050405020304" charset="0"/>
              <a:sym typeface="Helvetica Neue" panose="020B0604020202020204"/>
            </a:endParaRPr>
          </a:p>
          <a:p>
            <a:pPr marL="357505" marR="0" lvl="0" indent="-262255" algn="just" rtl="0">
              <a:lnSpc>
                <a:spcPct val="140000"/>
              </a:lnSpc>
              <a:spcBef>
                <a:spcPts val="49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 panose="020B0604020202020204"/>
              <a:buChar char="•"/>
            </a:pPr>
            <a:r>
              <a:rPr lang="en-US" sz="1500">
                <a:solidFill>
                  <a:schemeClr val="dk1"/>
                </a:solidFill>
                <a:latin typeface="Times New Roman" panose="02020603050405020304" charset="0"/>
                <a:ea typeface="Helvetica Neue" panose="020B0604020202020204"/>
                <a:cs typeface="Times New Roman" panose="02020603050405020304" charset="0"/>
                <a:sym typeface="Helvetica Neue" panose="020B0604020202020204"/>
              </a:rPr>
              <a:t>Project Design</a:t>
            </a:r>
            <a:endParaRPr lang="en-US" sz="1500">
              <a:solidFill>
                <a:schemeClr val="dk1"/>
              </a:solidFill>
              <a:latin typeface="Times New Roman" panose="02020603050405020304" charset="0"/>
              <a:ea typeface="Helvetica Neue" panose="020B0604020202020204"/>
              <a:cs typeface="Times New Roman" panose="02020603050405020304" charset="0"/>
              <a:sym typeface="Helvetica Neue" panose="020B0604020202020204"/>
            </a:endParaRPr>
          </a:p>
          <a:p>
            <a:pPr marL="357505" marR="0" lvl="0" indent="-262255" algn="just" rtl="0">
              <a:lnSpc>
                <a:spcPct val="140000"/>
              </a:lnSpc>
              <a:spcBef>
                <a:spcPts val="49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 panose="020B0604020202020204"/>
              <a:buChar char="•"/>
            </a:pPr>
            <a:r>
              <a:rPr lang="en-US" sz="1500">
                <a:solidFill>
                  <a:schemeClr val="dk1"/>
                </a:solidFill>
                <a:latin typeface="Times New Roman" panose="02020603050405020304" charset="0"/>
                <a:ea typeface="Helvetica Neue" panose="020B0604020202020204"/>
                <a:cs typeface="Times New Roman" panose="02020603050405020304" charset="0"/>
                <a:sym typeface="Helvetica Neue" panose="020B0604020202020204"/>
              </a:rPr>
              <a:t>Tools, Technologies and Languages</a:t>
            </a:r>
            <a:endParaRPr lang="en-US" sz="1500">
              <a:solidFill>
                <a:schemeClr val="dk1"/>
              </a:solidFill>
              <a:latin typeface="Times New Roman" panose="02020603050405020304" charset="0"/>
              <a:ea typeface="Helvetica Neue" panose="020B0604020202020204"/>
              <a:cs typeface="Times New Roman" panose="02020603050405020304" charset="0"/>
              <a:sym typeface="Helvetica Neue" panose="020B0604020202020204"/>
            </a:endParaRPr>
          </a:p>
          <a:p>
            <a:pPr marL="357505" marR="0" lvl="0" indent="-262255" algn="just" rtl="0">
              <a:lnSpc>
                <a:spcPct val="140000"/>
              </a:lnSpc>
              <a:spcBef>
                <a:spcPts val="49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 panose="020B0604020202020204"/>
              <a:buChar char="•"/>
            </a:pPr>
            <a:r>
              <a:rPr lang="en-US" sz="1500">
                <a:solidFill>
                  <a:schemeClr val="dk1"/>
                </a:solidFill>
                <a:latin typeface="Times New Roman" panose="02020603050405020304" charset="0"/>
                <a:ea typeface="Helvetica Neue" panose="020B0604020202020204"/>
                <a:cs typeface="Times New Roman" panose="02020603050405020304" charset="0"/>
                <a:sym typeface="Helvetica Neue" panose="020B0604020202020204"/>
              </a:rPr>
              <a:t>Dataset</a:t>
            </a:r>
            <a:endParaRPr lang="en-US" sz="1500">
              <a:solidFill>
                <a:schemeClr val="dk1"/>
              </a:solidFill>
              <a:latin typeface="Times New Roman" panose="02020603050405020304" charset="0"/>
              <a:ea typeface="Helvetica Neue" panose="020B0604020202020204"/>
              <a:cs typeface="Times New Roman" panose="02020603050405020304" charset="0"/>
              <a:sym typeface="Helvetica Neue" panose="020B0604020202020204"/>
            </a:endParaRPr>
          </a:p>
          <a:p>
            <a:pPr marL="357505" marR="0" lvl="0" indent="-262255" algn="just" rtl="0">
              <a:lnSpc>
                <a:spcPct val="140000"/>
              </a:lnSpc>
              <a:spcBef>
                <a:spcPts val="49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 panose="020B0604020202020204"/>
              <a:buChar char="•"/>
            </a:pPr>
            <a:r>
              <a:rPr lang="en-US" altLang="en-US" sz="1500">
                <a:solidFill>
                  <a:schemeClr val="dk1"/>
                </a:solidFill>
                <a:latin typeface="Times New Roman" panose="02020603050405020304" charset="0"/>
                <a:ea typeface="Helvetica Neue" panose="020B0604020202020204"/>
                <a:cs typeface="Times New Roman" panose="02020603050405020304" charset="0"/>
                <a:sym typeface="Helvetica Neue" panose="020B0604020202020204"/>
              </a:rPr>
              <a:t>Implementation</a:t>
            </a:r>
            <a:endParaRPr lang="en-US" altLang="en-US" sz="1500">
              <a:solidFill>
                <a:schemeClr val="dk1"/>
              </a:solidFill>
              <a:latin typeface="Times New Roman" panose="02020603050405020304" charset="0"/>
              <a:ea typeface="Helvetica Neue" panose="020B0604020202020204"/>
              <a:cs typeface="Times New Roman" panose="02020603050405020304" charset="0"/>
              <a:sym typeface="Helvetica Neue" panose="020B0604020202020204"/>
            </a:endParaRPr>
          </a:p>
          <a:p>
            <a:pPr marL="357505" marR="0" lvl="0" indent="-262255" algn="just" rtl="0">
              <a:lnSpc>
                <a:spcPct val="140000"/>
              </a:lnSpc>
              <a:spcBef>
                <a:spcPts val="49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 panose="020B0604020202020204"/>
              <a:buChar char="•"/>
            </a:pPr>
            <a:r>
              <a:rPr lang="en-US" altLang="en-US" sz="1500">
                <a:solidFill>
                  <a:schemeClr val="dk1"/>
                </a:solidFill>
                <a:latin typeface="Times New Roman" panose="02020603050405020304" charset="0"/>
                <a:ea typeface="Helvetica Neue" panose="020B0604020202020204"/>
                <a:cs typeface="Times New Roman" panose="02020603050405020304" charset="0"/>
                <a:sym typeface="Helvetica Neue" panose="020B0604020202020204"/>
              </a:rPr>
              <a:t>Experimental Results and Evaluation</a:t>
            </a:r>
            <a:endParaRPr lang="en-US" altLang="en-US" sz="1500">
              <a:solidFill>
                <a:schemeClr val="dk1"/>
              </a:solidFill>
              <a:latin typeface="Times New Roman" panose="02020603050405020304" charset="0"/>
              <a:ea typeface="Helvetica Neue" panose="020B0604020202020204"/>
              <a:cs typeface="Times New Roman" panose="02020603050405020304" charset="0"/>
              <a:sym typeface="Helvetica Neue" panose="020B0604020202020204"/>
            </a:endParaRPr>
          </a:p>
          <a:p>
            <a:pPr marL="357505" marR="0" lvl="0" indent="-262255" algn="just" rtl="0">
              <a:lnSpc>
                <a:spcPct val="140000"/>
              </a:lnSpc>
              <a:spcBef>
                <a:spcPts val="49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 panose="020B0604020202020204"/>
              <a:buChar char="•"/>
            </a:pPr>
            <a:r>
              <a:rPr lang="en-US" sz="1500">
                <a:solidFill>
                  <a:schemeClr val="dk1"/>
                </a:solidFill>
                <a:latin typeface="Times New Roman" panose="02020603050405020304" charset="0"/>
                <a:ea typeface="Helvetica Neue" panose="020B0604020202020204"/>
                <a:cs typeface="Times New Roman" panose="02020603050405020304" charset="0"/>
                <a:sym typeface="Helvetica Neue" panose="020B0604020202020204"/>
              </a:rPr>
              <a:t>Key Learnings</a:t>
            </a:r>
            <a:endParaRPr lang="en-US" sz="1500">
              <a:solidFill>
                <a:schemeClr val="dk1"/>
              </a:solidFill>
              <a:latin typeface="Times New Roman" panose="02020603050405020304" charset="0"/>
              <a:ea typeface="Helvetica Neue" panose="020B0604020202020204"/>
              <a:cs typeface="Times New Roman" panose="02020603050405020304" charset="0"/>
              <a:sym typeface="Helvetica Neue" panose="020B0604020202020204"/>
            </a:endParaRPr>
          </a:p>
          <a:p>
            <a:pPr marL="357505" marR="0" lvl="0" indent="-262255" algn="just" rtl="0">
              <a:lnSpc>
                <a:spcPct val="140000"/>
              </a:lnSpc>
              <a:spcBef>
                <a:spcPts val="49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 panose="020B0604020202020204"/>
              <a:buChar char="•"/>
            </a:pPr>
            <a:r>
              <a:rPr lang="en-US" sz="1500">
                <a:solidFill>
                  <a:schemeClr val="dk1"/>
                </a:solidFill>
                <a:latin typeface="Times New Roman" panose="02020603050405020304" charset="0"/>
                <a:ea typeface="Helvetica Neue" panose="020B0604020202020204"/>
                <a:cs typeface="Times New Roman" panose="02020603050405020304" charset="0"/>
                <a:sym typeface="Helvetica Neue" panose="020B0604020202020204"/>
              </a:rPr>
              <a:t>Work Contribution and Attendance</a:t>
            </a:r>
            <a:endParaRPr lang="en-US" sz="1500">
              <a:solidFill>
                <a:schemeClr val="dk1"/>
              </a:solidFill>
              <a:latin typeface="Times New Roman" panose="02020603050405020304" charset="0"/>
              <a:ea typeface="Helvetica Neue" panose="020B0604020202020204"/>
              <a:cs typeface="Times New Roman" panose="02020603050405020304" charset="0"/>
              <a:sym typeface="Helvetica Neue" panose="020B0604020202020204"/>
            </a:endParaRPr>
          </a:p>
          <a:p>
            <a:pPr marL="357505" marR="0" lvl="0" indent="-262255" algn="just" rtl="0">
              <a:lnSpc>
                <a:spcPct val="140000"/>
              </a:lnSpc>
              <a:spcBef>
                <a:spcPts val="49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 panose="020B0604020202020204"/>
              <a:buChar char="•"/>
            </a:pPr>
            <a:r>
              <a:rPr lang="en-US" sz="1500">
                <a:solidFill>
                  <a:schemeClr val="dk1"/>
                </a:solidFill>
                <a:latin typeface="Times New Roman" panose="02020603050405020304" charset="0"/>
                <a:ea typeface="Helvetica Neue" panose="020B0604020202020204"/>
                <a:cs typeface="Times New Roman" panose="02020603050405020304" charset="0"/>
                <a:sym typeface="Helvetica Neue" panose="020B0604020202020204"/>
              </a:rPr>
              <a:t>Future Work</a:t>
            </a:r>
            <a:endParaRPr lang="en-US" sz="1500">
              <a:solidFill>
                <a:schemeClr val="dk1"/>
              </a:solidFill>
              <a:latin typeface="Times New Roman" panose="02020603050405020304" charset="0"/>
              <a:ea typeface="Helvetica Neue" panose="020B0604020202020204"/>
              <a:cs typeface="Times New Roman" panose="02020603050405020304" charset="0"/>
              <a:sym typeface="Helvetica Neue" panose="020B0604020202020204"/>
            </a:endParaRPr>
          </a:p>
          <a:p>
            <a:pPr marL="357505" marR="0" lvl="0" indent="-262255" algn="just" rtl="0">
              <a:lnSpc>
                <a:spcPct val="140000"/>
              </a:lnSpc>
              <a:spcBef>
                <a:spcPts val="49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 panose="020B0604020202020204"/>
              <a:buChar char="•"/>
            </a:pPr>
            <a:r>
              <a:rPr lang="en-US" sz="1500">
                <a:solidFill>
                  <a:schemeClr val="dk1"/>
                </a:solidFill>
                <a:latin typeface="Times New Roman" panose="02020603050405020304" charset="0"/>
                <a:ea typeface="Helvetica Neue" panose="020B0604020202020204"/>
                <a:cs typeface="Times New Roman" panose="02020603050405020304" charset="0"/>
                <a:sym typeface="Helvetica Neue" panose="020B0604020202020204"/>
              </a:rPr>
              <a:t>Project Plan</a:t>
            </a:r>
            <a:endParaRPr lang="en-US" sz="1500">
              <a:solidFill>
                <a:schemeClr val="dk1"/>
              </a:solidFill>
              <a:latin typeface="Times New Roman" panose="02020603050405020304" charset="0"/>
              <a:ea typeface="Helvetica Neue" panose="020B0604020202020204"/>
              <a:cs typeface="Times New Roman" panose="02020603050405020304" charset="0"/>
              <a:sym typeface="Helvetica Neue" panose="020B0604020202020204"/>
            </a:endParaRPr>
          </a:p>
          <a:p>
            <a:pPr marL="357505" marR="0" lvl="0" indent="-262255" algn="just" rtl="0">
              <a:lnSpc>
                <a:spcPct val="140000"/>
              </a:lnSpc>
              <a:spcBef>
                <a:spcPts val="49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 panose="020B0604020202020204"/>
              <a:buChar char="•"/>
            </a:pPr>
            <a:r>
              <a:rPr lang="en-US" sz="1500">
                <a:solidFill>
                  <a:schemeClr val="dk1"/>
                </a:solidFill>
                <a:latin typeface="Times New Roman" panose="02020603050405020304" charset="0"/>
                <a:ea typeface="Helvetica Neue" panose="020B0604020202020204"/>
                <a:cs typeface="Times New Roman" panose="02020603050405020304" charset="0"/>
                <a:sym typeface="Helvetica Neue" panose="020B0604020202020204"/>
              </a:rPr>
              <a:t>References</a:t>
            </a:r>
            <a:endParaRPr lang="en-US" sz="1500">
              <a:solidFill>
                <a:schemeClr val="dk1"/>
              </a:solidFill>
              <a:latin typeface="Times New Roman" panose="02020603050405020304" charset="0"/>
              <a:ea typeface="Helvetica Neue" panose="020B0604020202020204"/>
              <a:cs typeface="Times New Roman" panose="02020603050405020304" charset="0"/>
              <a:sym typeface="Helvetica Neue" panose="020B0604020202020204"/>
            </a:endParaRPr>
          </a:p>
          <a:p>
            <a:pPr marL="357505" marR="0" lvl="0" indent="-262255" algn="just" rtl="0">
              <a:lnSpc>
                <a:spcPct val="140000"/>
              </a:lnSpc>
              <a:spcBef>
                <a:spcPts val="49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 panose="020B0604020202020204"/>
              <a:buChar char="•"/>
            </a:pPr>
            <a:endParaRPr sz="1500">
              <a:solidFill>
                <a:schemeClr val="dk1"/>
              </a:solidFill>
              <a:latin typeface="Times New Roman" panose="02020603050405020304" charset="0"/>
              <a:ea typeface="Helvetica Neue" panose="020B0604020202020204"/>
              <a:cs typeface="Times New Roman" panose="02020603050405020304" charset="0"/>
              <a:sym typeface="Helvetica Neue" panose="020B0604020202020204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rcRect r="4396" b="-20423"/>
          <a:stretch>
            <a:fillRect/>
          </a:stretch>
        </p:blipFill>
        <p:spPr>
          <a:xfrm>
            <a:off x="0" y="6532245"/>
            <a:ext cx="8741410" cy="3803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"/>
          <p:cNvSpPr txBox="1"/>
          <p:nvPr>
            <p:ph type="title"/>
          </p:nvPr>
        </p:nvSpPr>
        <p:spPr>
          <a:xfrm>
            <a:off x="40640" y="30480"/>
            <a:ext cx="8328752" cy="694064"/>
          </a:xfrm>
          <a:prstGeom prst="rect">
            <a:avLst/>
          </a:prstGeom>
          <a:solidFill>
            <a:srgbClr val="0037A4"/>
          </a:solidFill>
          <a:ln w="317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90805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</a:t>
            </a:r>
            <a:endParaRPr lang="en-US"/>
          </a:p>
        </p:txBody>
      </p:sp>
      <p:sp>
        <p:nvSpPr>
          <p:cNvPr id="47" name="Google Shape;47;p3"/>
          <p:cNvSpPr txBox="1"/>
          <p:nvPr/>
        </p:nvSpPr>
        <p:spPr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77825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50"/>
              <a:buChar char="•"/>
            </a:pPr>
            <a:r>
              <a:rPr lang="en-US" sz="1600" b="1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The Context:</a:t>
            </a:r>
            <a:r>
              <a:rPr lang="en-US" sz="160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 Rapid and accurate building damage assessment is critical for effective disaster response and recovery planning after major earthquakes.</a:t>
            </a:r>
            <a:endParaRPr sz="160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56870" marR="0" lvl="0" indent="-239395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Helvetica Neue" panose="020B0604020202020204"/>
              <a:buChar char="•"/>
            </a:pPr>
            <a:r>
              <a:rPr lang="en-US" sz="1600" b="1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The Challenge:</a:t>
            </a:r>
            <a:r>
              <a:rPr lang="en-US" sz="160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 Traditional manual inspections are slow, subjective, and dangerous . While AI shows immense promise, its adoption is hindered by two key issues: the scarcity of labeled training data and the "black box" nature of deep learning models.</a:t>
            </a:r>
            <a:endParaRPr sz="160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56870" marR="0" lvl="0" indent="-239395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Helvetica Neue" panose="020B0604020202020204"/>
              <a:buChar char="•"/>
            </a:pPr>
            <a:r>
              <a:rPr lang="en-US" sz="1600" b="1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Our Solution:</a:t>
            </a:r>
            <a:r>
              <a:rPr lang="en-US" sz="160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 This project proposes an innovative framework that combines Semi-Supervised Learning (SSL) to leverage abundant unlabeled data with Explainable AI (XAI) to create a fast, accurate, and trustworthy assessment tool.</a:t>
            </a:r>
            <a:endParaRPr sz="160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56870" marR="0" lvl="0" indent="-239395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Helvetica Neue" panose="020B0604020202020204"/>
              <a:buChar char="•"/>
            </a:pPr>
            <a:r>
              <a:rPr lang="en-US" sz="1600" b="1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The Technology:</a:t>
            </a:r>
            <a:r>
              <a:rPr lang="en-US" sz="160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 We will utilize state-of-the-art Vision Transformers (ViTs) and multi-modal remote sensing data (e.g., pre-disaster optical and post-disaster SAR imagery) to build a robust and reliable system.</a:t>
            </a:r>
            <a:endParaRPr sz="160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rcRect r="4396" b="-20423"/>
          <a:stretch>
            <a:fillRect/>
          </a:stretch>
        </p:blipFill>
        <p:spPr>
          <a:xfrm>
            <a:off x="0" y="6532245"/>
            <a:ext cx="8741410" cy="3803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"/>
          <p:cNvSpPr txBox="1"/>
          <p:nvPr>
            <p:ph type="title"/>
          </p:nvPr>
        </p:nvSpPr>
        <p:spPr>
          <a:xfrm>
            <a:off x="40640" y="30480"/>
            <a:ext cx="8328752" cy="694064"/>
          </a:xfrm>
          <a:prstGeom prst="rect">
            <a:avLst/>
          </a:prstGeom>
          <a:solidFill>
            <a:srgbClr val="0037A4"/>
          </a:solidFill>
          <a:ln w="317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90805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Problem Statement</a:t>
            </a:r>
            <a:endParaRPr lang="en-US"/>
          </a:p>
        </p:txBody>
      </p:sp>
      <p:sp>
        <p:nvSpPr>
          <p:cNvPr id="53" name="Google Shape;53;p4"/>
          <p:cNvSpPr txBox="1"/>
          <p:nvPr/>
        </p:nvSpPr>
        <p:spPr>
          <a:xfrm>
            <a:off x="77118" y="804232"/>
            <a:ext cx="8956800" cy="57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altLang="en-US" sz="160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Traditional post-earthquake damage assessment depends on manual on-site inspections—an approach that is slow, expensive, and inherently subjective, often delaying critical relief decisions during large-scale disasters. Although deep learning offers an automated alternative, current models face two major limitations: data scarcity, since supervised methods require large expert-annotated datasets that are rarely available for new events, and lack of transparency, as these models often function as non-interpretable “black boxes,” reducing trust among response teams who rely on clear, explainable reasoning. Thus, the central challenge is to build a system that is data-efficient, accurate, and interpretable enough to serve as a reliable decision-support tool in high-stakes disaster environments.</a:t>
            </a:r>
            <a:endParaRPr lang="en-US" altLang="en-US" sz="160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rcRect r="4396" b="-20423"/>
          <a:stretch>
            <a:fillRect/>
          </a:stretch>
        </p:blipFill>
        <p:spPr>
          <a:xfrm>
            <a:off x="0" y="6532245"/>
            <a:ext cx="8741410" cy="3803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"/>
          <p:cNvSpPr txBox="1"/>
          <p:nvPr>
            <p:ph type="title"/>
          </p:nvPr>
        </p:nvSpPr>
        <p:spPr>
          <a:xfrm>
            <a:off x="40640" y="30480"/>
            <a:ext cx="8328752" cy="694064"/>
          </a:xfrm>
          <a:prstGeom prst="rect">
            <a:avLst/>
          </a:prstGeom>
          <a:solidFill>
            <a:srgbClr val="0037A4"/>
          </a:solidFill>
          <a:ln w="317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90805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Objectives</a:t>
            </a:r>
            <a:endParaRPr lang="en-US"/>
          </a:p>
        </p:txBody>
      </p:sp>
      <p:sp>
        <p:nvSpPr>
          <p:cNvPr id="59" name="Google Shape;59;p5"/>
          <p:cNvSpPr txBox="1"/>
          <p:nvPr/>
        </p:nvSpPr>
        <p:spPr>
          <a:xfrm>
            <a:off x="77118" y="804232"/>
            <a:ext cx="8956714" cy="576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77825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50"/>
              <a:buChar char="•"/>
            </a:pPr>
            <a:r>
              <a:rPr lang="en-US" sz="160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To develop a </a:t>
            </a:r>
            <a:r>
              <a:rPr lang="en-US" sz="1600" b="1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semi-supervised learning pipeline</a:t>
            </a:r>
            <a:r>
              <a:rPr lang="en-US" sz="160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 that effectively leverages both labeled and unlabeled imagery to train a robust damage assessment model.</a:t>
            </a:r>
            <a:endParaRPr sz="160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377825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50"/>
              <a:buChar char="•"/>
            </a:pPr>
            <a:r>
              <a:rPr lang="en-US" sz="160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To integrate </a:t>
            </a:r>
            <a:r>
              <a:rPr lang="en-US" sz="1600" b="1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Explainable AI (XAI) methods</a:t>
            </a:r>
            <a:r>
              <a:rPr lang="en-US" sz="160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, such as Grad-CAM, to provide visual, interpretable justifications for the model's predictions. </a:t>
            </a:r>
            <a:endParaRPr sz="160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377825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50"/>
              <a:buChar char="•"/>
            </a:pPr>
            <a:r>
              <a:rPr lang="en-US" sz="160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To design and implement a </a:t>
            </a:r>
            <a:r>
              <a:rPr lang="en-US" sz="1600" b="1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prototype tool</a:t>
            </a:r>
            <a:r>
              <a:rPr lang="en-US" sz="160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 that can process post-earthquake imagery, output a damage classification, and display the corresponding explanation to an end-user.</a:t>
            </a:r>
            <a:endParaRPr sz="160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60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rcRect r="4396" b="-20423"/>
          <a:stretch>
            <a:fillRect/>
          </a:stretch>
        </p:blipFill>
        <p:spPr>
          <a:xfrm>
            <a:off x="0" y="6532245"/>
            <a:ext cx="8741410" cy="3803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"/>
          <p:cNvSpPr txBox="1"/>
          <p:nvPr>
            <p:ph type="title"/>
          </p:nvPr>
        </p:nvSpPr>
        <p:spPr>
          <a:xfrm>
            <a:off x="40640" y="30480"/>
            <a:ext cx="8328752" cy="694064"/>
          </a:xfrm>
          <a:prstGeom prst="rect">
            <a:avLst/>
          </a:prstGeom>
          <a:solidFill>
            <a:srgbClr val="0037A4"/>
          </a:solidFill>
          <a:ln w="317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90805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Literature Review</a:t>
            </a:r>
            <a:endParaRPr b="0"/>
          </a:p>
        </p:txBody>
      </p:sp>
      <p:sp>
        <p:nvSpPr>
          <p:cNvPr id="65" name="Google Shape;65;p6"/>
          <p:cNvSpPr txBox="1"/>
          <p:nvPr/>
        </p:nvSpPr>
        <p:spPr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525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 panose="020B0604020202020204"/>
              <a:buNone/>
            </a:pPr>
            <a:endParaRPr sz="1800">
              <a:solidFill>
                <a:schemeClr val="dk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  <p:graphicFrame>
        <p:nvGraphicFramePr>
          <p:cNvPr id="66" name="Google Shape;66;p6"/>
          <p:cNvGraphicFramePr/>
          <p:nvPr>
            <p:custDataLst>
              <p:tags r:id="rId1"/>
            </p:custDataLst>
          </p:nvPr>
        </p:nvGraphicFramePr>
        <p:xfrm>
          <a:off x="0" y="685800"/>
          <a:ext cx="9144000" cy="5913755"/>
        </p:xfrm>
        <a:graphic>
          <a:graphicData uri="http://schemas.openxmlformats.org/drawingml/2006/table">
            <a:tbl>
              <a:tblPr firstRow="1" bandRow="1">
                <a:noFill/>
                <a:tableStyleId>{0FDD740C-D32F-4F01-9374-D45B8AFD0EE1}</a:tableStyleId>
              </a:tblPr>
              <a:tblGrid>
                <a:gridCol w="555625"/>
                <a:gridCol w="1804035"/>
                <a:gridCol w="1501140"/>
                <a:gridCol w="1456055"/>
                <a:gridCol w="1873885"/>
                <a:gridCol w="1953260"/>
              </a:tblGrid>
              <a:tr h="77851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S. No.</a:t>
                      </a:r>
                      <a:endParaRPr lang="en-US" sz="1200" b="0" i="0" u="none" strike="noStrike" cap="none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Author &amp; </a:t>
                      </a:r>
                      <a:endParaRPr sz="12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Paper Title </a:t>
                      </a:r>
                      <a:br>
                        <a:rPr lang="en-US" sz="1200" b="0" i="0" u="none" strike="noStrike" cap="none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</a:br>
                      <a:r>
                        <a:rPr lang="en-US" sz="1200" b="0" i="0" u="none" strike="noStrike" cap="none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[Citation]</a:t>
                      </a:r>
                      <a:endParaRPr sz="12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50" marR="91450" marT="45725" marB="45725"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Journal/</a:t>
                      </a:r>
                      <a:endParaRPr sz="12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Conference</a:t>
                      </a:r>
                      <a:br>
                        <a:rPr lang="en-US" sz="1200" b="0" i="0" u="none" strike="noStrike" cap="none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</a:br>
                      <a:r>
                        <a:rPr lang="en-US" sz="1200" b="0" i="0" u="none" strike="noStrike" cap="none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(Year)</a:t>
                      </a:r>
                      <a:endParaRPr sz="12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50" marR="91450" marT="45725" marB="45725"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Tools/</a:t>
                      </a:r>
                      <a:endParaRPr sz="12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Techniques/</a:t>
                      </a:r>
                      <a:endParaRPr sz="12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Dataset</a:t>
                      </a:r>
                      <a:endParaRPr sz="12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50" marR="91450" marT="45725" marB="45725"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Key Findings/</a:t>
                      </a:r>
                      <a:endParaRPr sz="12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Results</a:t>
                      </a:r>
                      <a:endParaRPr sz="12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50" marR="91450" marT="45725" marB="45725"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Limitations/</a:t>
                      </a:r>
                      <a:endParaRPr sz="12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Gaps Identified</a:t>
                      </a:r>
                      <a:endParaRPr sz="12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50" marR="91450" marT="45725" marB="45725">
                    <a:solidFill>
                      <a:srgbClr val="606029"/>
                    </a:solidFill>
                  </a:tcPr>
                </a:tc>
              </a:tr>
              <a:tr h="149796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1.</a:t>
                      </a:r>
                      <a:endParaRPr lang="en-US" sz="1000" b="0" i="0" u="none" strike="noStrike" cap="none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Turan, O. T., et al., "A structural damage ranking using ConvNeXt for post-earthquake image classification" </a:t>
                      </a:r>
                      <a:endParaRPr lang="en-US" sz="11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Arabian Journal for Science and Engineering (2025)</a:t>
                      </a:r>
                      <a:endParaRPr lang="en-US" sz="11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ConvNeXt, Transfer Learning, Grad-CAM, Custom Turkish earthquakes dataset.</a:t>
                      </a:r>
                      <a:endParaRPr lang="en-US" sz="11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ConvNeXt with transfer learning achieved high accuracy; Grad-CAM successfully visualized the model's focus on relevant damage features, and the model generalized well to an unseen event.</a:t>
                      </a:r>
                      <a:endParaRPr lang="en-US" sz="11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952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 panose="020B0604020202020204"/>
                        <a:buNone/>
                      </a:pPr>
                      <a:r>
                        <a:rPr lang="en-US" sz="11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Fully supervised approach requires a large labeled dataset; focuses on a binary (structural vs. non-structural) classification.</a:t>
                      </a:r>
                      <a:endParaRPr lang="en-US" sz="11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D5D59B"/>
                    </a:solidFill>
                  </a:tcPr>
                </a:tc>
              </a:tr>
              <a:tr h="114744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2.</a:t>
                      </a:r>
                      <a:endParaRPr lang="en-US" sz="10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Wang, Z., et al., "Constructing an Extensible Building Damage Dataset via Semi-supervised Fine-Tuning..." </a:t>
                      </a:r>
                      <a:endParaRPr lang="en-US" sz="11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Journal of Remote Sensing (2025)</a:t>
                      </a:r>
                      <a:endParaRPr lang="en-US" sz="11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Semi-Supervised Fine-Tuning (SS-FT), Contrastive Learning, xBD &amp; EBD datasets.</a:t>
                      </a:r>
                      <a:endParaRPr lang="en-US" sz="11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Machine-driven workflow reduced dataset construction time by over 80%. SS-FT effectively transferred knowledge from xBD to new disasters with limited labels.</a:t>
                      </a:r>
                      <a:endParaRPr lang="en-US" sz="11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952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 panose="020B0604020202020204"/>
                        <a:buNone/>
                      </a:pPr>
                      <a:r>
                        <a:rPr lang="en-US" sz="11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Primary focus was dataset creation, not an end-user tool. The model was optimized for each disaster separately, not as a single general model.</a:t>
                      </a:r>
                      <a:endParaRPr lang="en-US" sz="11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0F0DD"/>
                    </a:solidFill>
                  </a:tcPr>
                </a:tc>
              </a:tr>
              <a:tr h="114744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3.</a:t>
                      </a:r>
                      <a:endParaRPr lang="en-US" sz="10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Singh, D. K., &amp; Hoskere, V., "Post Disaster Damage Assessment Using Ultra-High-</a:t>
                      </a:r>
                      <a:r>
                        <a:rPr lang="en-US" sz="11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Resolution Imagery with Semi-Supervised Transformers" [</a:t>
                      </a:r>
                      <a:endParaRPr lang="en-US" sz="11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Sensors (2023)</a:t>
                      </a:r>
                      <a:endParaRPr lang="en-US" sz="11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SSL, Vision Transformer (ViT), EMA-Teacher, Ultra-High-Resolution Aerial (UHRA) imagery.</a:t>
                      </a:r>
                      <a:endParaRPr lang="en-US" sz="11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Achieved 88% accuracy (a 33% improvement over CNNs). SSL model matched fully supervised performance with only 25% of labeled data.</a:t>
                      </a:r>
                      <a:endParaRPr lang="en-US" sz="11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952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 panose="020B0604020202020204"/>
                        <a:buNone/>
                      </a:pPr>
                      <a:r>
                        <a:rPr lang="en-US" sz="11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Methodology is tailored for above-ground structures and can be limited by cloud cover. Does not incorporate multi-modal data like SAR or text.</a:t>
                      </a:r>
                      <a:endParaRPr lang="en-US" sz="11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D5D59B"/>
                    </a:solidFill>
                  </a:tcPr>
                </a:tc>
              </a:tr>
              <a:tr h="134239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4.</a:t>
                      </a:r>
                      <a:endParaRPr lang="en-US" sz="10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Sun, Y., et al., "Post-disaster building damage assessment based on gated adaptive multi-scale spatial-frequency fusion network" </a:t>
                      </a:r>
                      <a:endParaRPr lang="en-US" sz="11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IJ of Applied Earth Observation and Geoinformation (2025)</a:t>
                      </a:r>
                      <a:endParaRPr lang="en-US" sz="11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Gated Adaptive Multi-scale Spatial-frequency Fusion Network (GAMSF), Transformers, Wavelet Fusion, xBD &amp; xFBD datasets.</a:t>
                      </a:r>
                      <a:endParaRPr lang="en-US" sz="11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Achieved state-of-the-art performance, outperforming other methods, particularly in distinguishing difficult "minor damage" cases.</a:t>
                      </a:r>
                      <a:endParaRPr lang="en-US" sz="11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952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 panose="020B0604020202020204"/>
                        <a:buNone/>
                      </a:pPr>
                      <a:r>
                        <a:rPr lang="en-US" sz="11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The complex architecture (GAMSF) is computationally expensive, which could limit its use in rapid response scenarios with constrained resources.</a:t>
                      </a:r>
                      <a:endParaRPr lang="en-US" sz="11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0F0DD"/>
                    </a:solidFill>
                  </a:tcPr>
                </a:tc>
              </a:tr>
            </a:tbl>
          </a:graphicData>
        </a:graphic>
      </p:graphicFrame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rcRect r="4396" b="-20423"/>
          <a:stretch>
            <a:fillRect/>
          </a:stretch>
        </p:blipFill>
        <p:spPr>
          <a:xfrm>
            <a:off x="0" y="6532245"/>
            <a:ext cx="8741410" cy="3803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 txBox="1"/>
          <p:nvPr>
            <p:ph type="title"/>
          </p:nvPr>
        </p:nvSpPr>
        <p:spPr>
          <a:xfrm>
            <a:off x="40640" y="30480"/>
            <a:ext cx="8328752" cy="694064"/>
          </a:xfrm>
          <a:prstGeom prst="rect">
            <a:avLst/>
          </a:prstGeom>
          <a:solidFill>
            <a:srgbClr val="0037A4"/>
          </a:solidFill>
          <a:ln w="317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90805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Literature Review (cont…)</a:t>
            </a:r>
            <a:endParaRPr b="0"/>
          </a:p>
        </p:txBody>
      </p:sp>
      <p:sp>
        <p:nvSpPr>
          <p:cNvPr id="72" name="Google Shape;72;p7"/>
          <p:cNvSpPr txBox="1"/>
          <p:nvPr/>
        </p:nvSpPr>
        <p:spPr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525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 panose="020B0604020202020204"/>
              <a:buNone/>
            </a:pPr>
            <a:endParaRPr sz="1800">
              <a:solidFill>
                <a:schemeClr val="dk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  <p:graphicFrame>
        <p:nvGraphicFramePr>
          <p:cNvPr id="73" name="Google Shape;73;p7"/>
          <p:cNvGraphicFramePr/>
          <p:nvPr>
            <p:custDataLst>
              <p:tags r:id="rId1"/>
            </p:custDataLst>
          </p:nvPr>
        </p:nvGraphicFramePr>
        <p:xfrm>
          <a:off x="-27305" y="694055"/>
          <a:ext cx="9199245" cy="5904230"/>
        </p:xfrm>
        <a:graphic>
          <a:graphicData uri="http://schemas.openxmlformats.org/drawingml/2006/table">
            <a:tbl>
              <a:tblPr firstRow="1" bandRow="1">
                <a:noFill/>
                <a:tableStyleId>{0FDD740C-D32F-4F01-9374-D45B8AFD0EE1}</a:tableStyleId>
              </a:tblPr>
              <a:tblGrid>
                <a:gridCol w="558800"/>
                <a:gridCol w="1814830"/>
                <a:gridCol w="1510665"/>
                <a:gridCol w="1464945"/>
                <a:gridCol w="1885315"/>
                <a:gridCol w="1964690"/>
              </a:tblGrid>
              <a:tr h="73088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S. No.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Author &amp; </a:t>
                      </a:r>
                      <a:endParaRPr sz="12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Paper Title </a:t>
                      </a:r>
                      <a:br>
                        <a:rPr lang="en-US" sz="12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</a:br>
                      <a:r>
                        <a:rPr lang="en-US" sz="12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[Citation]</a:t>
                      </a:r>
                      <a:endParaRPr sz="12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50" marR="91450" marT="45725" marB="45725"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Journal/</a:t>
                      </a:r>
                      <a:endParaRPr sz="12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Conference</a:t>
                      </a:r>
                      <a:br>
                        <a:rPr lang="en-US" sz="12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</a:br>
                      <a:r>
                        <a:rPr lang="en-US" sz="12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(Year)</a:t>
                      </a:r>
                      <a:endParaRPr sz="12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50" marR="91450" marT="45725" marB="45725"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Tools/</a:t>
                      </a:r>
                      <a:endParaRPr sz="12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Techniques/</a:t>
                      </a:r>
                      <a:endParaRPr sz="12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Dataset</a:t>
                      </a:r>
                      <a:endParaRPr sz="12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50" marR="91450" marT="45725" marB="45725"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Key Findings/</a:t>
                      </a:r>
                      <a:endParaRPr sz="12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Results</a:t>
                      </a:r>
                      <a:endParaRPr sz="12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50" marR="91450" marT="45725" marB="45725"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Limitations/</a:t>
                      </a:r>
                      <a:endParaRPr sz="12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Gaps Identified</a:t>
                      </a:r>
                      <a:endParaRPr sz="12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50" marR="91450" marT="45725" marB="45725">
                    <a:solidFill>
                      <a:srgbClr val="606029"/>
                    </a:solidFill>
                  </a:tcPr>
                </a:tc>
              </a:tr>
              <a:tr h="1016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5.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Gupta, R., et al., "xBD: A Dataset for Assessing Building Damage from Satellite Imagery" 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ArXiv (2019)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Joint Damage Scale, Multi-disaster data collection, ResNet50 baseline.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Introduced the largest benchmark dataset (xBD) for this task, covering 19 disasters with a unified 4-level damage scale.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952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 panose="020B0604020202020204"/>
                        <a:buNone/>
                      </a:pPr>
                      <a:r>
                        <a:rPr lang="en-US" sz="12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The dataset has a severe class imbalance. The baseline model achieved a low F1-score, highlighting the difficulty.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D5D59B"/>
                    </a:solidFill>
                  </a:tcPr>
                </a:tc>
              </a:tr>
              <a:tr h="138557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6.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Li, J., et al., "BUILDING-GUIDED PSEUDO-LABEL LEARNING FOR CROSS-MODAL BUILDING DAMAGE MAPPING" 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ArXiv (2025)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SSL, Pseudo-Labeling, Cross-Modal Data (Optical &amp; SAR), U-Net, PVT.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The Building-Guided SSL framework achieved first place in an IEEE competition, effectively using building priors to improve damage mapping from cross-modal imagery.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952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 panose="020B0604020202020204"/>
                        <a:buNone/>
                      </a:pPr>
                      <a:r>
                        <a:rPr lang="en-US" sz="12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Relies on the quality of the initial building extraction. The two-stage model is complex.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0F0DD"/>
                    </a:solidFill>
                  </a:tcPr>
                </a:tc>
              </a:tr>
              <a:tr h="138620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7.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Rao, A., et al., "Earthquake building damage detection based on synthetic-aperture-radar imagery and machine learning" 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Natural Hazards and Earth System Sciences (2023)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Machine Learning (Random Forest), Multimodal data (InSAR, ShakeMaps, Building Attributes).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Successfully fused SAR data with other geospatial information. Found binary classification (damaged/undamaged) to be significantly more accurate than multi-class.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952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 panose="020B0604020202020204"/>
                        <a:buNone/>
                      </a:pPr>
                      <a:r>
                        <a:rPr lang="en-US" sz="12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Used a traditional ML model, not a deep learning one. Multi-class classification performance was low.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D5D59B"/>
                    </a:solidFill>
                  </a:tcPr>
                </a:tc>
              </a:tr>
              <a:tr h="138557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8.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Lee, J., et al., "Assessing Post-Disaster Damage from Satellite Imagery using Semi-Supervised Learning Techniques" 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ArXiv (2020)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SSL, Mix Match, FixMatch, CNN (Wide Residual Network).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Showed that advanced SSL methods can achieve performance close to fully supervised models using only a fraction of the labeled data (e.g., 50-100 examples).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952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 panose="020B0604020202020204"/>
                        <a:buNone/>
                      </a:pPr>
                      <a:r>
                        <a:rPr lang="en-US" sz="12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The focus was on binary classification (damaged/undamaged) rather than a multi-level damage scale.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0F0DD"/>
                    </a:solidFill>
                  </a:tcPr>
                </a:tc>
              </a:tr>
            </a:tbl>
          </a:graphicData>
        </a:graphic>
      </p:graphicFrame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rcRect t="46440" r="4396" b="-20423"/>
          <a:stretch>
            <a:fillRect/>
          </a:stretch>
        </p:blipFill>
        <p:spPr>
          <a:xfrm>
            <a:off x="0" y="6678930"/>
            <a:ext cx="8741410" cy="2336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 txBox="1"/>
          <p:nvPr>
            <p:ph type="title"/>
          </p:nvPr>
        </p:nvSpPr>
        <p:spPr>
          <a:xfrm>
            <a:off x="40640" y="30480"/>
            <a:ext cx="8328752" cy="694064"/>
          </a:xfrm>
          <a:prstGeom prst="rect">
            <a:avLst/>
          </a:prstGeom>
          <a:solidFill>
            <a:srgbClr val="0037A4"/>
          </a:solidFill>
          <a:ln w="317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90805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Literature Review (cont…)</a:t>
            </a:r>
            <a:endParaRPr b="0"/>
          </a:p>
        </p:txBody>
      </p:sp>
      <p:sp>
        <p:nvSpPr>
          <p:cNvPr id="79" name="Google Shape;79;p8"/>
          <p:cNvSpPr txBox="1"/>
          <p:nvPr/>
        </p:nvSpPr>
        <p:spPr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525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 panose="020B0604020202020204"/>
              <a:buNone/>
            </a:pPr>
            <a:endParaRPr sz="1800">
              <a:solidFill>
                <a:schemeClr val="dk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  <p:graphicFrame>
        <p:nvGraphicFramePr>
          <p:cNvPr id="80" name="Google Shape;80;p8"/>
          <p:cNvGraphicFramePr/>
          <p:nvPr>
            <p:custDataLst>
              <p:tags r:id="rId1"/>
            </p:custDataLst>
          </p:nvPr>
        </p:nvGraphicFramePr>
        <p:xfrm>
          <a:off x="0" y="690245"/>
          <a:ext cx="9220835" cy="5909310"/>
        </p:xfrm>
        <a:graphic>
          <a:graphicData uri="http://schemas.openxmlformats.org/drawingml/2006/table">
            <a:tbl>
              <a:tblPr firstRow="1" bandRow="1">
                <a:noFill/>
                <a:tableStyleId>{0FDD740C-D32F-4F01-9374-D45B8AFD0EE1}</a:tableStyleId>
              </a:tblPr>
              <a:tblGrid>
                <a:gridCol w="560070"/>
                <a:gridCol w="1819275"/>
                <a:gridCol w="1513840"/>
                <a:gridCol w="1468755"/>
                <a:gridCol w="1889760"/>
                <a:gridCol w="1969135"/>
              </a:tblGrid>
              <a:tr h="69342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S. No.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Author &amp; </a:t>
                      </a:r>
                      <a:endParaRPr sz="12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Paper Title </a:t>
                      </a:r>
                      <a:br>
                        <a:rPr lang="en-US" sz="12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</a:br>
                      <a:r>
                        <a:rPr lang="en-US" sz="12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[Citation]</a:t>
                      </a:r>
                      <a:endParaRPr sz="12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50" marR="91450" marT="45725" marB="45725"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Journal/</a:t>
                      </a:r>
                      <a:endParaRPr sz="12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Conference</a:t>
                      </a:r>
                      <a:br>
                        <a:rPr lang="en-US" sz="12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</a:br>
                      <a:r>
                        <a:rPr lang="en-US" sz="12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(Year)</a:t>
                      </a:r>
                      <a:endParaRPr sz="12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50" marR="91450" marT="45725" marB="45725"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Tools/</a:t>
                      </a:r>
                      <a:endParaRPr sz="12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Techniques/</a:t>
                      </a:r>
                      <a:endParaRPr sz="12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Dataset</a:t>
                      </a:r>
                      <a:endParaRPr sz="12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50" marR="91450" marT="45725" marB="45725"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Key Findings/</a:t>
                      </a:r>
                      <a:endParaRPr sz="12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Results</a:t>
                      </a:r>
                      <a:endParaRPr sz="12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50" marR="91450" marT="45725" marB="45725"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Limitations/</a:t>
                      </a:r>
                      <a:endParaRPr sz="12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Gaps Identified</a:t>
                      </a:r>
                      <a:endParaRPr sz="12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50" marR="91450" marT="45725" marB="45725">
                    <a:solidFill>
                      <a:srgbClr val="606029"/>
                    </a:solidFill>
                  </a:tcPr>
                </a:tc>
              </a:tr>
              <a:tr h="1397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9.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Zhuang, X., et al., "Deep learning-based post-earthquake structural damage level recognition" 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Computers and Structures (2025)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Transfer Learning, Bayesian Optimization, Grad-CAM, CNNs (MobileNet, etc.).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Achieved 96.11% accuracy for 4-class damage classification using an optimized MobileNet model. Successfully used Grad-CAM for visual explanations.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952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 panose="020B0604020202020204"/>
                        <a:buNone/>
                      </a:pPr>
                      <a:r>
                        <a:rPr lang="en-US" sz="12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The study used a relatively small, curated dataset (2000 images) and was fully supervised, not addressing the unlabeled data problem.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D5D59B"/>
                    </a:solidFill>
                  </a:tcPr>
                </a:tc>
              </a:tr>
              <a:tr h="121094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10.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Appelle, A., "Semi-Supervised Classification of Images for Post-Earthquake Building Damage Assessment" 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Stanford CS230 Report (2021)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SSL, Pseudo-Labeling, Transfer Learning, VGG-16, φ-Net dataset.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A simple pseudo-labeling SSL approach improved accuracy by up to 5% on an unlabeled test set, demonstrating the value of SSL.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952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 panose="020B0604020202020204"/>
                        <a:buNone/>
                      </a:pPr>
                      <a:r>
                        <a:rPr lang="en-US" sz="12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The success of the method was highly dependent on the baseline model's accuracy; it failed to improve a less accurate classifier.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0F0DD"/>
                    </a:solidFill>
                  </a:tcPr>
                </a:tc>
              </a:tr>
              <a:tr h="121094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11.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Qiao, W., et al., "Revolutionizing building damage detection: A novel weakly supervised approach..." 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International Journal of Digital Earth (2024)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Weakly Supervised Learning, FCN, Superpixel Segmentation, CNN.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Proposed a method that can produce pixel-level damage maps using only image-level annotations, significantly reducing the labeling effort.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952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 panose="020B0604020202020204"/>
                        <a:buNone/>
                      </a:pPr>
                      <a:r>
                        <a:rPr lang="en-US" sz="12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Accuracy is slightly lower than fully supervised segmentation models. Performance depends on the quality of the superpixel segmentation.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D5D59B"/>
                    </a:solidFill>
                  </a:tcPr>
                </a:tc>
              </a:tr>
              <a:tr h="1397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12.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Asadi, A., et al., "Semi-Supervised Learning Method for the Augmentation of an Incomplete Image-Based Inventory..." 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Remote Sensing (2023)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Semi-Supervised Self-Training, Linear Discriminant Analysis.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Successfully used SSL to complete a sparse, partially labeled inventory of soil liquefaction damage, proving the concept for geospatial damage assessment tasks.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952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 panose="020B0604020202020204"/>
                        <a:buNone/>
                      </a:pPr>
                      <a:r>
                        <a:rPr lang="en-US" sz="12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Focuses on soil liquefaction, not building damage. It uses a traditional ML classifier, not a deep learning model.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0F0DD"/>
                    </a:solidFill>
                  </a:tcPr>
                </a:tc>
              </a:tr>
            </a:tbl>
          </a:graphicData>
        </a:graphic>
      </p:graphicFrame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rcRect r="4396" b="-20423"/>
          <a:stretch>
            <a:fillRect/>
          </a:stretch>
        </p:blipFill>
        <p:spPr>
          <a:xfrm>
            <a:off x="0" y="6532245"/>
            <a:ext cx="8741410" cy="3803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9"/>
          <p:cNvSpPr txBox="1"/>
          <p:nvPr>
            <p:ph type="title"/>
          </p:nvPr>
        </p:nvSpPr>
        <p:spPr>
          <a:xfrm>
            <a:off x="40640" y="30480"/>
            <a:ext cx="8328752" cy="694064"/>
          </a:xfrm>
          <a:prstGeom prst="rect">
            <a:avLst/>
          </a:prstGeom>
          <a:solidFill>
            <a:srgbClr val="0037A4"/>
          </a:solidFill>
          <a:ln w="317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90805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Literature Review (cont…)</a:t>
            </a:r>
            <a:endParaRPr b="0"/>
          </a:p>
        </p:txBody>
      </p:sp>
      <p:sp>
        <p:nvSpPr>
          <p:cNvPr id="86" name="Google Shape;86;p9"/>
          <p:cNvSpPr txBox="1"/>
          <p:nvPr/>
        </p:nvSpPr>
        <p:spPr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525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 panose="020B0604020202020204"/>
              <a:buNone/>
            </a:pPr>
            <a:endParaRPr sz="1800">
              <a:solidFill>
                <a:schemeClr val="dk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  <p:graphicFrame>
        <p:nvGraphicFramePr>
          <p:cNvPr id="87" name="Google Shape;87;p9"/>
          <p:cNvGraphicFramePr/>
          <p:nvPr>
            <p:custDataLst>
              <p:tags r:id="rId1"/>
            </p:custDataLst>
          </p:nvPr>
        </p:nvGraphicFramePr>
        <p:xfrm>
          <a:off x="0" y="730250"/>
          <a:ext cx="9144000" cy="5891530"/>
        </p:xfrm>
        <a:graphic>
          <a:graphicData uri="http://schemas.openxmlformats.org/drawingml/2006/table">
            <a:tbl>
              <a:tblPr firstRow="1" bandRow="1">
                <a:noFill/>
                <a:tableStyleId>{0FDD740C-D32F-4F01-9374-D45B8AFD0EE1}</a:tableStyleId>
              </a:tblPr>
              <a:tblGrid>
                <a:gridCol w="555625"/>
                <a:gridCol w="1804035"/>
                <a:gridCol w="1501140"/>
                <a:gridCol w="1456055"/>
                <a:gridCol w="1873885"/>
                <a:gridCol w="1953260"/>
              </a:tblGrid>
              <a:tr h="7080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S. No.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Author &amp; </a:t>
                      </a:r>
                      <a:endParaRPr sz="12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Paper Title </a:t>
                      </a:r>
                      <a:br>
                        <a:rPr lang="en-US" sz="12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</a:br>
                      <a:r>
                        <a:rPr lang="en-US" sz="12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[Citation]</a:t>
                      </a:r>
                      <a:endParaRPr sz="12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50" marR="91450" marT="45725" marB="45725"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Journal/</a:t>
                      </a:r>
                      <a:endParaRPr sz="12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Conference</a:t>
                      </a:r>
                      <a:br>
                        <a:rPr lang="en-US" sz="12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</a:br>
                      <a:r>
                        <a:rPr lang="en-US" sz="12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(Year)</a:t>
                      </a:r>
                      <a:endParaRPr sz="12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50" marR="91450" marT="45725" marB="45725"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Tools/</a:t>
                      </a:r>
                      <a:endParaRPr sz="12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Techniques/</a:t>
                      </a:r>
                      <a:endParaRPr sz="12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Dataset</a:t>
                      </a:r>
                      <a:endParaRPr sz="12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50" marR="91450" marT="45725" marB="45725"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Key Findings/</a:t>
                      </a:r>
                      <a:endParaRPr sz="12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Results</a:t>
                      </a:r>
                      <a:endParaRPr sz="12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50" marR="91450" marT="45725" marB="45725"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Limitations/</a:t>
                      </a:r>
                      <a:endParaRPr sz="12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Gaps Identified</a:t>
                      </a:r>
                      <a:endParaRPr sz="12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50" marR="91450" marT="45725" marB="45725">
                    <a:solidFill>
                      <a:srgbClr val="606029"/>
                    </a:solidFill>
                  </a:tcPr>
                </a:tc>
              </a:tr>
              <a:tr h="12033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13.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Weber, E., &amp; Kané, H., "Building Disaster Damage Assessment in Satellite Imagery with Multi-temporal Fusion"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ArXiv (2020)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Multi-temporal Fusion, Siamese U-Net, xBD dataset.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Fusing pre- and post-disaster features at multiple stages of a deep network improves performance over simple image concatenation .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952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 panose="020B0604020202020204"/>
                        <a:buNone/>
                      </a:pPr>
                      <a:r>
                        <a:rPr lang="en-US" sz="12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The approach is fully supervised, requiring pre- and post-disaster labeled pairs for training. The fusion adds complexity to the model architecture.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D5D59B"/>
                    </a:solidFill>
                  </a:tcPr>
                </a:tc>
              </a:tr>
              <a:tr h="12033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14.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Nex, F., et al., "Structural Building Damage Detection with Deep Learning: Assessment of a State-of-the-Art CNN in Operational Conditions"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Remote Sensing (2019)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CNN, Transfer Learning, UAV Oblique Imagery.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Showed that CNNs can effectively detect damage from oblique UAV imagery, which provides more detail than nadir (top-down) satellite views.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952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 panose="020B0604020202020204"/>
                        <a:buNone/>
                      </a:pPr>
                      <a:r>
                        <a:rPr lang="en-US" sz="12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The study is fully supervised and highlights challenges in generalizing from one disaster event to another without fine-tuning.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0F0DD"/>
                    </a:solidFill>
                  </a:tcPr>
                </a:tc>
              </a:tr>
              <a:tr h="138874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15.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Bai, Y., et al., "Swin Transformer-Based Building Damage Assessment from Post-Event Aerial Imagery"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Remote Sensing (2022)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Swin Transformer (ViT variant), Post-event aerial imagery.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Showed that the Swin Transformer architecture can effectively perform damage assessment, achieving high accuracy by capturing hierarchical features .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952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 panose="020B0604020202020204"/>
                        <a:buNone/>
                      </a:pPr>
                      <a:r>
                        <a:rPr lang="en-US" sz="12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Used only post-event imagery, which can struggle to differentiate pre-existing damage from disaster-induced damage.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D5D59B"/>
                    </a:solidFill>
                  </a:tcPr>
                </a:tc>
              </a:tr>
              <a:tr h="138811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16.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He, Y., et al., "MS4D-Net: Multitask-Based Semi-Supervised Semantic Segmentation Framework..."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Remote Sensing (2023)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SSL, Mean Teacher Framework, Multi-task Learning.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Proposed an advanced SSL framework based on the Mean Teacher concept, which improved performance for damage assessment by leveraging unlabeled data.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952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 panose="020B0604020202020204"/>
                        <a:buNone/>
                      </a:pPr>
                      <a:r>
                        <a:rPr lang="en-US" sz="12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The framework is complex and requires careful tuning of multiple components and loss functions.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0F0DD"/>
                    </a:solidFill>
                  </a:tcPr>
                </a:tc>
              </a:tr>
            </a:tbl>
          </a:graphicData>
        </a:graphic>
      </p:graphicFrame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rcRect t="32770" r="4396" b="-20423"/>
          <a:stretch>
            <a:fillRect/>
          </a:stretch>
        </p:blipFill>
        <p:spPr>
          <a:xfrm>
            <a:off x="0" y="6635750"/>
            <a:ext cx="8741410" cy="2768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0"/>
          <p:cNvSpPr txBox="1"/>
          <p:nvPr>
            <p:ph type="title"/>
          </p:nvPr>
        </p:nvSpPr>
        <p:spPr>
          <a:xfrm>
            <a:off x="40640" y="30480"/>
            <a:ext cx="8328752" cy="694064"/>
          </a:xfrm>
          <a:prstGeom prst="rect">
            <a:avLst/>
          </a:prstGeom>
          <a:solidFill>
            <a:srgbClr val="0037A4"/>
          </a:solidFill>
          <a:ln w="317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90805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Literature Review (cont…)</a:t>
            </a:r>
            <a:endParaRPr b="0"/>
          </a:p>
        </p:txBody>
      </p:sp>
      <p:sp>
        <p:nvSpPr>
          <p:cNvPr id="93" name="Google Shape;93;p10"/>
          <p:cNvSpPr txBox="1"/>
          <p:nvPr/>
        </p:nvSpPr>
        <p:spPr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525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 panose="020B0604020202020204"/>
              <a:buNone/>
            </a:pPr>
            <a:endParaRPr sz="1800">
              <a:solidFill>
                <a:schemeClr val="dk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  <p:graphicFrame>
        <p:nvGraphicFramePr>
          <p:cNvPr id="94" name="Google Shape;94;p10"/>
          <p:cNvGraphicFramePr/>
          <p:nvPr>
            <p:custDataLst>
              <p:tags r:id="rId1"/>
            </p:custDataLst>
          </p:nvPr>
        </p:nvGraphicFramePr>
        <p:xfrm>
          <a:off x="0" y="724535"/>
          <a:ext cx="9144000" cy="6133465"/>
        </p:xfrm>
        <a:graphic>
          <a:graphicData uri="http://schemas.openxmlformats.org/drawingml/2006/table">
            <a:tbl>
              <a:tblPr firstRow="1" bandRow="1">
                <a:noFill/>
                <a:tableStyleId>{0FDD740C-D32F-4F01-9374-D45B8AFD0EE1}</a:tableStyleId>
              </a:tblPr>
              <a:tblGrid>
                <a:gridCol w="555625"/>
                <a:gridCol w="1804035"/>
                <a:gridCol w="1501140"/>
                <a:gridCol w="1456055"/>
                <a:gridCol w="1873885"/>
                <a:gridCol w="1953260"/>
              </a:tblGrid>
              <a:tr h="69659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S. No.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Author &amp; </a:t>
                      </a:r>
                      <a:endParaRPr sz="12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Paper Title </a:t>
                      </a:r>
                      <a:br>
                        <a:rPr lang="en-US" sz="12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</a:br>
                      <a:r>
                        <a:rPr lang="en-US" sz="12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[Citation]</a:t>
                      </a:r>
                      <a:endParaRPr sz="12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50" marR="91450" marT="45725" marB="45725"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Journal/</a:t>
                      </a:r>
                      <a:endParaRPr sz="12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Conference</a:t>
                      </a:r>
                      <a:br>
                        <a:rPr lang="en-US" sz="12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</a:br>
                      <a:r>
                        <a:rPr lang="en-US" sz="12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(Year)</a:t>
                      </a:r>
                      <a:endParaRPr sz="12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50" marR="91450" marT="45725" marB="45725"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Tools/</a:t>
                      </a:r>
                      <a:endParaRPr sz="12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Techniques/</a:t>
                      </a:r>
                      <a:endParaRPr sz="12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Dataset</a:t>
                      </a:r>
                      <a:endParaRPr sz="12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50" marR="91450" marT="45725" marB="45725"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Key Findings/</a:t>
                      </a:r>
                      <a:endParaRPr sz="12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Results</a:t>
                      </a:r>
                      <a:endParaRPr sz="12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50" marR="91450" marT="45725" marB="45725"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Limitations/</a:t>
                      </a:r>
                      <a:endParaRPr sz="12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Gaps Identified</a:t>
                      </a:r>
                      <a:endParaRPr sz="12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50" marR="91450" marT="45725" marB="45725">
                    <a:solidFill>
                      <a:srgbClr val="606029"/>
                    </a:solidFill>
                  </a:tcPr>
                </a:tc>
              </a:tr>
              <a:tr h="121221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17.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Chen, H., et al., "Dual-tasks Siamese transformer framework for building damage assessment"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IGARSS (2022)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Siamese Transformer, Multi-task Learning, xBD dataset.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Proposed a framework where a Siamese Transformer simultaneously performs building localization and damage classification.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952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 panose="020B0604020202020204"/>
                        <a:buNone/>
                      </a:pPr>
                      <a:r>
                        <a:rPr lang="en-US" sz="12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Fully supervised approach. The dual-task setup adds complexity to the training process.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D5D59B"/>
                    </a:solidFill>
                  </a:tcPr>
                </a:tc>
              </a:tr>
              <a:tr h="124015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18.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Tilon, S., et al., "Post-disaster building damage detection... using unsupervised and transferable anomaly detecting GANs"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Remote Sensing (2020)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Unsupervised Learning, GANs, Anomaly Detection.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Used a GAN-based anomaly detection approach to identify damaged buildings without any labeled damage examples.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952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 panose="020B0604020202020204"/>
                        <a:buNone/>
                      </a:pPr>
                      <a:r>
                        <a:rPr lang="en-US" sz="12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The unsupervised nature means it can only detect change, not classify the level of damage (e.g., minor vs. major).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0F0DD"/>
                    </a:solidFill>
                  </a:tcPr>
                </a:tc>
              </a:tr>
              <a:tr h="158559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19.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Li, Y., et al., "Deep Learning for Post-Disaster Building Damage Assessment: A Review"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Remote Sensing (2022)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Literature Review/Survey.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Provides a comprehensive overview of the field, summarizing different models (CNNs, segmentation, etc.), datasets, and key challenges like class imbalance.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952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 panose="020B0604020202020204"/>
                        <a:buNone/>
                      </a:pPr>
                      <a:r>
                        <a:rPr lang="en-US" sz="12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As a review paper, it summarizes existing work but does not present a new method or experimental results.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D5D59B"/>
                    </a:solidFill>
                  </a:tcPr>
                </a:tc>
              </a:tr>
              <a:tr h="139890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20.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Zheng, Z., et al., "Building damage assessment for rapid disaster response with a deep object-based semantic change detection framework..."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Remote Sensing of Environment (2021)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Semantic Change Detection, Object-based analysis, Multi-task Learning.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Proposed a framework that first identifies objects (buildings) and then performs semantic change detection, improving accuracy by reducing false positives.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952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 panose="020B0604020202020204"/>
                        <a:buNone/>
                      </a:pPr>
                      <a:r>
                        <a:rPr lang="en-US" sz="12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The two-stage, object-based approach is computationally more intensive than end-to-end pixel-based methods.</a:t>
                      </a:r>
                      <a:endParaRPr lang="en-US" sz="12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0F0D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 lang="en-US" altLang="en-US"/>
              <a:t>Work Done (after Mid-Term Evaluation)</a:t>
            </a:r>
            <a:endParaRPr lang="en-US" altLang="en-US"/>
          </a:p>
        </p:txBody>
      </p:sp>
      <p:sp>
        <p:nvSpPr>
          <p:cNvPr id="3" name="Text Placeholder 2"/>
          <p:cNvSpPr/>
          <p:nvPr>
            <p:ph type="body" idx="1"/>
          </p:nvPr>
        </p:nvSpPr>
        <p:spPr>
          <a:xfrm>
            <a:off x="86360" y="645160"/>
            <a:ext cx="8953500" cy="6113145"/>
          </a:xfrm>
        </p:spPr>
        <p:txBody>
          <a:bodyPr/>
          <a:p>
            <a:r>
              <a:rPr lang="en-US" altLang="en-US" sz="1500" b="1">
                <a:latin typeface="Times New Roman" panose="02020603050405020304" charset="0"/>
                <a:cs typeface="Times New Roman" panose="02020603050405020304" charset="0"/>
              </a:rPr>
              <a:t>Implementation Phase (Oct 27 - Nov 15):</a:t>
            </a:r>
            <a:endParaRPr lang="en-US" altLang="en-US" sz="1500" b="1">
              <a:latin typeface="Times New Roman" panose="02020603050405020304" charset="0"/>
              <a:cs typeface="Times New Roman" panose="0202060305040502030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1500" b="1">
                <a:latin typeface="Times New Roman" panose="02020603050405020304" charset="0"/>
                <a:cs typeface="Times New Roman" panose="02020603050405020304" charset="0"/>
              </a:rPr>
              <a:t>Data Pipeline:</a:t>
            </a:r>
            <a:r>
              <a:rPr lang="en-US" altLang="en-US" sz="1500">
                <a:latin typeface="Times New Roman" panose="02020603050405020304" charset="0"/>
                <a:cs typeface="Times New Roman" panose="02020603050405020304" charset="0"/>
              </a:rPr>
              <a:t> Finalized preprocessing scripts for the xBD dataset (alignment, tiling to 224×224, normalization).</a:t>
            </a:r>
            <a:endParaRPr lang="en-US" altLang="en-US" sz="1500">
              <a:latin typeface="Times New Roman" panose="02020603050405020304" charset="0"/>
              <a:cs typeface="Times New Roman" panose="0202060305040502030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1500" b="1">
                <a:latin typeface="Times New Roman" panose="02020603050405020304" charset="0"/>
                <a:cs typeface="Times New Roman" panose="02020603050405020304" charset="0"/>
              </a:rPr>
              <a:t>Model Development:</a:t>
            </a:r>
            <a:r>
              <a:rPr lang="en-US" altLang="en-US" sz="1500">
                <a:latin typeface="Times New Roman" panose="02020603050405020304" charset="0"/>
                <a:cs typeface="Times New Roman" panose="02020603050405020304" charset="0"/>
              </a:rPr>
              <a:t> Implemented the ViT-Tiny supervised baseline with a custom 6-channel input layer for bitemporal analysis.</a:t>
            </a:r>
            <a:endParaRPr lang="en-US" altLang="en-US" sz="1500">
              <a:latin typeface="Times New Roman" panose="02020603050405020304" charset="0"/>
              <a:cs typeface="Times New Roman" panose="0202060305040502030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1500" b="1">
                <a:latin typeface="Times New Roman" panose="02020603050405020304" charset="0"/>
                <a:cs typeface="Times New Roman" panose="02020603050405020304" charset="0"/>
              </a:rPr>
              <a:t>Class Balancing:</a:t>
            </a:r>
            <a:r>
              <a:rPr lang="en-US" altLang="en-US" sz="1500">
                <a:latin typeface="Times New Roman" panose="02020603050405020304" charset="0"/>
                <a:cs typeface="Times New Roman" panose="02020603050405020304" charset="0"/>
              </a:rPr>
              <a:t> Integrated Inverse Frequency Weighting to handle the severe class imbalance (No Damage vs. Destroyed).</a:t>
            </a:r>
            <a:endParaRPr lang="en-US" altLang="en-US" sz="15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500" b="1">
                <a:latin typeface="Times New Roman" panose="02020603050405020304" charset="0"/>
                <a:cs typeface="Times New Roman" panose="02020603050405020304" charset="0"/>
              </a:rPr>
              <a:t>Experimental Phase (Nov 15 - Nov 25):</a:t>
            </a:r>
            <a:endParaRPr lang="en-US" altLang="en-US" sz="1500" b="1">
              <a:latin typeface="Times New Roman" panose="02020603050405020304" charset="0"/>
              <a:cs typeface="Times New Roman" panose="0202060305040502030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1500" b="1">
                <a:latin typeface="Times New Roman" panose="02020603050405020304" charset="0"/>
                <a:cs typeface="Times New Roman" panose="02020603050405020304" charset="0"/>
              </a:rPr>
              <a:t>Training: </a:t>
            </a:r>
            <a:r>
              <a:rPr lang="en-US" altLang="en-US" sz="1500">
                <a:latin typeface="Times New Roman" panose="02020603050405020304" charset="0"/>
                <a:cs typeface="Times New Roman" panose="02020603050405020304" charset="0"/>
              </a:rPr>
              <a:t>Successfully trained the baseline model on the labeled subset, achieving an mIoU of 0.7421.</a:t>
            </a:r>
            <a:endParaRPr lang="en-US" altLang="en-US" sz="1500">
              <a:latin typeface="Times New Roman" panose="02020603050405020304" charset="0"/>
              <a:cs typeface="Times New Roman" panose="0202060305040502030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1500" b="1">
                <a:latin typeface="Times New Roman" panose="02020603050405020304" charset="0"/>
                <a:cs typeface="Times New Roman" panose="02020603050405020304" charset="0"/>
              </a:rPr>
              <a:t>Prototype Deployment:</a:t>
            </a:r>
            <a:r>
              <a:rPr lang="en-US" altLang="en-US" sz="1500">
                <a:latin typeface="Times New Roman" panose="02020603050405020304" charset="0"/>
                <a:cs typeface="Times New Roman" panose="02020603050405020304" charset="0"/>
              </a:rPr>
              <a:t> Developed a real-time Streamlit web interface for inference and visualization.</a:t>
            </a:r>
            <a:endParaRPr lang="en-US" altLang="en-US" sz="15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500" b="1">
                <a:latin typeface="Times New Roman" panose="02020603050405020304" charset="0"/>
                <a:cs typeface="Times New Roman" panose="02020603050405020304" charset="0"/>
              </a:rPr>
              <a:t>Documentation Phase (Nov 26 - Present):</a:t>
            </a:r>
            <a:endParaRPr lang="en-US" altLang="en-US" sz="1500" b="1">
              <a:latin typeface="Times New Roman" panose="02020603050405020304" charset="0"/>
              <a:cs typeface="Times New Roman" panose="0202060305040502030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1500" b="1">
                <a:latin typeface="Times New Roman" panose="02020603050405020304" charset="0"/>
                <a:cs typeface="Times New Roman" panose="02020603050405020304" charset="0"/>
              </a:rPr>
              <a:t>Report Finalization:</a:t>
            </a:r>
            <a:r>
              <a:rPr lang="en-US" altLang="en-US" sz="1500">
                <a:latin typeface="Times New Roman" panose="02020603050405020304" charset="0"/>
                <a:cs typeface="Times New Roman" panose="02020603050405020304" charset="0"/>
              </a:rPr>
              <a:t> Completed the Major Project Report (Chapters 1-6), including formal mathematical formulations for loss and metrics.</a:t>
            </a:r>
            <a:endParaRPr lang="en-US" altLang="en-US" sz="1500">
              <a:latin typeface="Times New Roman" panose="02020603050405020304" charset="0"/>
              <a:cs typeface="Times New Roman" panose="0202060305040502030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1500" b="1">
                <a:latin typeface="Times New Roman" panose="02020603050405020304" charset="0"/>
                <a:cs typeface="Times New Roman" panose="02020603050405020304" charset="0"/>
              </a:rPr>
              <a:t>Future Roadmap:</a:t>
            </a:r>
            <a:r>
              <a:rPr lang="en-US" altLang="en-US" sz="1500">
                <a:latin typeface="Times New Roman" panose="02020603050405020304" charset="0"/>
                <a:cs typeface="Times New Roman" panose="02020603050405020304" charset="0"/>
              </a:rPr>
              <a:t> Defined the next Semester scope: SSL (EMA-Teacher) and Grad-CAM.</a:t>
            </a:r>
            <a:endParaRPr lang="en-US" altLang="en-US" sz="15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rcRect r="4396" b="-20423"/>
          <a:stretch>
            <a:fillRect/>
          </a:stretch>
        </p:blipFill>
        <p:spPr>
          <a:xfrm>
            <a:off x="0" y="6532245"/>
            <a:ext cx="8741410" cy="38036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1"/>
          <p:cNvSpPr txBox="1"/>
          <p:nvPr>
            <p:ph type="title"/>
          </p:nvPr>
        </p:nvSpPr>
        <p:spPr>
          <a:xfrm>
            <a:off x="40640" y="30480"/>
            <a:ext cx="8328752" cy="694064"/>
          </a:xfrm>
          <a:prstGeom prst="rect">
            <a:avLst/>
          </a:prstGeom>
          <a:solidFill>
            <a:srgbClr val="0037A4"/>
          </a:solidFill>
          <a:ln w="317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90805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Project Design</a:t>
            </a:r>
            <a:endParaRPr lang="en-US" sz="2400"/>
          </a:p>
        </p:txBody>
      </p:sp>
      <p:sp>
        <p:nvSpPr>
          <p:cNvPr id="100" name="Google Shape;100;p11"/>
          <p:cNvSpPr txBox="1"/>
          <p:nvPr/>
        </p:nvSpPr>
        <p:spPr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Our project is designed as a </a:t>
            </a:r>
            <a:r>
              <a:rPr lang="en-US" sz="1600" b="1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two-stage pipeline</a:t>
            </a:r>
            <a:r>
              <a:rPr lang="en-US" sz="160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 that first identifies building locations and then classifies their damage level.This approach, inspired by state-of-the-art methods , ensures that our analysis is focused only on relevant structures, improving accuracy and efficiency.</a:t>
            </a:r>
            <a:endParaRPr sz="160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Stage 1: Building Extraction</a:t>
            </a:r>
            <a:endParaRPr sz="1600" b="1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A segmentation model (e.g., U-Net with a ViT backbone) is trained on </a:t>
            </a:r>
            <a:r>
              <a:rPr lang="en-US" sz="1600" b="1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pre-disaster optical imagery</a:t>
            </a:r>
            <a:r>
              <a:rPr lang="en-US" sz="160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sz="160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This stage produces a precise </a:t>
            </a:r>
            <a:r>
              <a:rPr lang="en-US" sz="1600" b="1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building footprint mask</a:t>
            </a:r>
            <a:r>
              <a:rPr lang="en-US" sz="160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, which acts as a guide for the damage classification stage.</a:t>
            </a:r>
            <a:endParaRPr sz="160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Stage 2: Semi-Supervised Damage Classification</a:t>
            </a:r>
            <a:endParaRPr sz="1600" b="1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A change detection model receives a pair of </a:t>
            </a:r>
            <a:r>
              <a:rPr lang="en-US" sz="1600" b="1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pre- and post-disaster images</a:t>
            </a:r>
            <a:r>
              <a:rPr lang="en-US" sz="160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 (e.g., optical and SAR) as input.</a:t>
            </a:r>
            <a:endParaRPr sz="160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Using the building mask, the model is trained with our </a:t>
            </a:r>
            <a:r>
              <a:rPr lang="en-US" sz="1600" b="1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Semi-Supervised Learning (SSL)</a:t>
            </a:r>
            <a:r>
              <a:rPr lang="en-US" sz="160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 pipeline to classify the damage level for each building.</a:t>
            </a:r>
            <a:endParaRPr sz="160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sz="1600">
              <a:solidFill>
                <a:schemeClr val="dk1"/>
              </a:solidFill>
              <a:latin typeface="Times New Roman" panose="02020603050405020304" charset="0"/>
              <a:ea typeface="Helvetica Neue" panose="020B0604020202020204"/>
              <a:cs typeface="Times New Roman" panose="02020603050405020304" charset="0"/>
              <a:sym typeface="Helvetica Neue" panose="020B0604020202020204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rcRect r="4396" b="-20423"/>
          <a:stretch>
            <a:fillRect/>
          </a:stretch>
        </p:blipFill>
        <p:spPr>
          <a:xfrm>
            <a:off x="0" y="6541135"/>
            <a:ext cx="8741410" cy="38036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2"/>
          <p:cNvSpPr txBox="1"/>
          <p:nvPr>
            <p:ph type="title"/>
          </p:nvPr>
        </p:nvSpPr>
        <p:spPr>
          <a:xfrm>
            <a:off x="40640" y="30480"/>
            <a:ext cx="8328752" cy="694064"/>
          </a:xfrm>
          <a:prstGeom prst="rect">
            <a:avLst/>
          </a:prstGeom>
          <a:solidFill>
            <a:srgbClr val="0037A4"/>
          </a:solidFill>
          <a:ln w="317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90805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Project Design </a:t>
            </a:r>
            <a:r>
              <a:rPr lang="en-US" sz="2400" b="0"/>
              <a:t>(cont…)</a:t>
            </a:r>
            <a:endParaRPr b="0"/>
          </a:p>
        </p:txBody>
      </p:sp>
      <p:sp>
        <p:nvSpPr>
          <p:cNvPr id="106" name="Google Shape;106;p12"/>
          <p:cNvSpPr txBox="1"/>
          <p:nvPr/>
        </p:nvSpPr>
        <p:spPr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Our core methodology integrates a sophisticated Semi-Supervised Learning (SSL) pipeline for training with an Explainable AI (XAI) workflow for inference. This ensures our model is both highly accurate and trustworthy.</a:t>
            </a:r>
            <a:endParaRPr sz="160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600" b="1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SSL Training Pipeline:</a:t>
            </a:r>
            <a:r>
              <a:rPr lang="en-US" sz="160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 We will train our Vision Transformer using an </a:t>
            </a:r>
            <a:r>
              <a:rPr lang="en-US" sz="1600" b="1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EMA-Teacher framework</a:t>
            </a:r>
            <a:r>
              <a:rPr lang="en-US" sz="160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 . This method effectively leverages unlabeled data by using a stable 'teacher' model to generate high-quality pseudo-labels. This process significantly improves the main 'student' model's accuracy and its ability to generalize from limited labeled data.</a:t>
            </a:r>
            <a:endParaRPr sz="160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600" b="1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Inference and XAI Workflow:</a:t>
            </a:r>
            <a:r>
              <a:rPr lang="en-US" sz="160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 For each prediction, our trained model will output the damage class, while an integrated </a:t>
            </a:r>
            <a:r>
              <a:rPr lang="en-US" sz="1600" b="1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XAI module (Grad-CAM)</a:t>
            </a:r>
            <a:r>
              <a:rPr lang="en-US" sz="160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 will generate a visual heatmap . This combined output provides both an answer and a justification, transforming the model from a "black box" into a transparent decision-support tool for disaster response teams.</a:t>
            </a:r>
            <a:endParaRPr sz="160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marR="0" lvl="0" indent="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Times New Roman" panose="02020603050405020304" charset="0"/>
              <a:ea typeface="Helvetica Neue" panose="020B0604020202020204"/>
              <a:cs typeface="Times New Roman" panose="02020603050405020304" charset="0"/>
              <a:sym typeface="Helvetica Neue" panose="020B0604020202020204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rcRect r="4396" b="-20423"/>
          <a:stretch>
            <a:fillRect/>
          </a:stretch>
        </p:blipFill>
        <p:spPr>
          <a:xfrm>
            <a:off x="8890" y="6550025"/>
            <a:ext cx="8741410" cy="38036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3"/>
          <p:cNvSpPr txBox="1"/>
          <p:nvPr>
            <p:ph type="title"/>
          </p:nvPr>
        </p:nvSpPr>
        <p:spPr>
          <a:xfrm>
            <a:off x="40640" y="30480"/>
            <a:ext cx="8328752" cy="694064"/>
          </a:xfrm>
          <a:prstGeom prst="rect">
            <a:avLst/>
          </a:prstGeom>
          <a:solidFill>
            <a:srgbClr val="0037A4"/>
          </a:solidFill>
          <a:ln w="317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90805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Project Design </a:t>
            </a:r>
            <a:r>
              <a:rPr lang="en-US" sz="2400" b="0"/>
              <a:t>(cont…)</a:t>
            </a:r>
            <a:endParaRPr b="0"/>
          </a:p>
        </p:txBody>
      </p:sp>
      <p:sp>
        <p:nvSpPr>
          <p:cNvPr id="112" name="Google Shape;112;p13"/>
          <p:cNvSpPr txBox="1"/>
          <p:nvPr/>
        </p:nvSpPr>
        <p:spPr>
          <a:xfrm>
            <a:off x="-7" y="531568"/>
            <a:ext cx="8956800" cy="57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63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  <p:pic>
        <p:nvPicPr>
          <p:cNvPr id="113" name="Google Shape;113;p13" title="earthquake_flowchart.pn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2411150" y="804225"/>
            <a:ext cx="4243199" cy="5433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3"/>
          <p:cNvSpPr txBox="1"/>
          <p:nvPr/>
        </p:nvSpPr>
        <p:spPr>
          <a:xfrm>
            <a:off x="3328850" y="6238125"/>
            <a:ext cx="2407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Figure 1: Flowchart</a:t>
            </a:r>
            <a:endParaRPr sz="1600">
              <a:solidFill>
                <a:schemeClr val="dk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rcRect t="21712" r="4396" b="-20423"/>
          <a:stretch>
            <a:fillRect/>
          </a:stretch>
        </p:blipFill>
        <p:spPr>
          <a:xfrm>
            <a:off x="0" y="6600825"/>
            <a:ext cx="8741410" cy="31178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4"/>
          <p:cNvSpPr txBox="1"/>
          <p:nvPr>
            <p:ph type="title"/>
          </p:nvPr>
        </p:nvSpPr>
        <p:spPr>
          <a:xfrm>
            <a:off x="40640" y="30480"/>
            <a:ext cx="8328752" cy="694064"/>
          </a:xfrm>
          <a:prstGeom prst="rect">
            <a:avLst/>
          </a:prstGeom>
          <a:solidFill>
            <a:srgbClr val="0037A4"/>
          </a:solidFill>
          <a:ln w="317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90805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Tools, Technologies and Languages</a:t>
            </a:r>
            <a:endParaRPr b="0"/>
          </a:p>
        </p:txBody>
      </p:sp>
      <p:sp>
        <p:nvSpPr>
          <p:cNvPr id="120" name="Google Shape;120;p14"/>
          <p:cNvSpPr txBox="1"/>
          <p:nvPr/>
        </p:nvSpPr>
        <p:spPr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ym typeface="+mn-ea"/>
              </a:rPr>
              <a:t>Table 2: Description of Tools Used</a:t>
            </a:r>
            <a:endParaRPr>
              <a:solidFill>
                <a:schemeClr val="dk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  <p:graphicFrame>
        <p:nvGraphicFramePr>
          <p:cNvPr id="121" name="Google Shape;121;p14"/>
          <p:cNvGraphicFramePr/>
          <p:nvPr/>
        </p:nvGraphicFramePr>
        <p:xfrm>
          <a:off x="952500" y="1425500"/>
          <a:ext cx="7239000" cy="4746000"/>
        </p:xfrm>
        <a:graphic>
          <a:graphicData uri="http://schemas.openxmlformats.org/drawingml/2006/table">
            <a:tbl>
              <a:tblPr>
                <a:noFill/>
                <a:tableStyleId>{8B96190E-B9D6-440D-9FAF-961801FE8CC0}</a:tableStyleId>
              </a:tblPr>
              <a:tblGrid>
                <a:gridCol w="2413000"/>
                <a:gridCol w="2413000"/>
                <a:gridCol w="2413000"/>
              </a:tblGrid>
              <a:tr h="949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Category</a:t>
                      </a:r>
                      <a:endParaRPr lang="en-US" sz="16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Description</a:t>
                      </a:r>
                      <a:endParaRPr lang="en-US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Version</a:t>
                      </a:r>
                      <a:endParaRPr lang="en-US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49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Programming Language</a:t>
                      </a:r>
                      <a:endParaRPr lang="en-US" sz="1700">
                        <a:solidFill>
                          <a:schemeClr val="dk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 panose="02020603050405020304" charset="0"/>
                          <a:cs typeface="Times New Roman" panose="02020603050405020304" charset="0"/>
                        </a:rPr>
                        <a:t>Python</a:t>
                      </a:r>
                      <a:endParaRPr lang="en-US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 panose="02020603050405020304" charset="0"/>
                          <a:cs typeface="Times New Roman" panose="02020603050405020304" charset="0"/>
                        </a:rPr>
                        <a:t>3.12.5</a:t>
                      </a:r>
                      <a:endParaRPr lang="en-US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49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Core AI/ML Frameworks</a:t>
                      </a:r>
                      <a:endParaRPr lang="en-US" sz="1700">
                        <a:solidFill>
                          <a:schemeClr val="dk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 panose="02020603050405020304" charset="0"/>
                          <a:cs typeface="Times New Roman" panose="02020603050405020304" charset="0"/>
                        </a:rPr>
                        <a:t>TensorFlow/Keras or PyTorch (for building and training deep learning models)</a:t>
                      </a:r>
                      <a:endParaRPr lang="en-US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49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Image Processing</a:t>
                      </a:r>
                      <a:endParaRPr lang="en-US" sz="1700">
                        <a:solidFill>
                          <a:schemeClr val="dk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 panose="02020603050405020304" charset="0"/>
                          <a:cs typeface="Times New Roman" panose="02020603050405020304" charset="0"/>
                        </a:rPr>
                        <a:t>OpenCV (for image preprocessing, augmentation, and manipulation)</a:t>
                      </a:r>
                      <a:endParaRPr lang="en-US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 panose="02020603050405020304" charset="0"/>
                          <a:cs typeface="Times New Roman" panose="02020603050405020304" charset="0"/>
                        </a:rPr>
                        <a:t>4.10.0</a:t>
                      </a:r>
                      <a:endParaRPr lang="en-US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49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Development Environment</a:t>
                      </a:r>
                      <a:endParaRPr lang="en-US" sz="1700">
                        <a:solidFill>
                          <a:schemeClr val="dk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 panose="02020603050405020304" charset="0"/>
                          <a:cs typeface="Times New Roman" panose="02020603050405020304" charset="0"/>
                        </a:rPr>
                        <a:t>Jupyter Notebook / Google Colab (for experimentation and prototyping)</a:t>
                      </a:r>
                      <a:endParaRPr lang="en-US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 panose="02020603050405020304" charset="0"/>
                          <a:cs typeface="Times New Roman" panose="02020603050405020304" charset="0"/>
                        </a:rPr>
                        <a:t>7.2.1</a:t>
                      </a:r>
                      <a:endParaRPr lang="en-US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rcRect r="4396" b="-20423"/>
          <a:stretch>
            <a:fillRect/>
          </a:stretch>
        </p:blipFill>
        <p:spPr>
          <a:xfrm>
            <a:off x="0" y="6541135"/>
            <a:ext cx="8741410" cy="38036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5"/>
          <p:cNvSpPr txBox="1"/>
          <p:nvPr>
            <p:ph type="title"/>
          </p:nvPr>
        </p:nvSpPr>
        <p:spPr>
          <a:xfrm>
            <a:off x="40640" y="30480"/>
            <a:ext cx="8328752" cy="694064"/>
          </a:xfrm>
          <a:prstGeom prst="rect">
            <a:avLst/>
          </a:prstGeom>
          <a:solidFill>
            <a:srgbClr val="0037A4"/>
          </a:solidFill>
          <a:ln w="317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90805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Tools, Technologies and Languages (cont…)</a:t>
            </a:r>
            <a:endParaRPr b="0"/>
          </a:p>
        </p:txBody>
      </p:sp>
      <p:sp>
        <p:nvSpPr>
          <p:cNvPr id="127" name="Google Shape;127;p15"/>
          <p:cNvSpPr txBox="1"/>
          <p:nvPr/>
        </p:nvSpPr>
        <p:spPr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b="1"/>
          </a:p>
        </p:txBody>
      </p:sp>
      <p:graphicFrame>
        <p:nvGraphicFramePr>
          <p:cNvPr id="128" name="Google Shape;128;p15"/>
          <p:cNvGraphicFramePr/>
          <p:nvPr/>
        </p:nvGraphicFramePr>
        <p:xfrm>
          <a:off x="827100" y="1409000"/>
          <a:ext cx="7364400" cy="3626100"/>
        </p:xfrm>
        <a:graphic>
          <a:graphicData uri="http://schemas.openxmlformats.org/drawingml/2006/table">
            <a:tbl>
              <a:tblPr>
                <a:noFill/>
                <a:tableStyleId>{8B96190E-B9D6-440D-9FAF-961801FE8CC0}</a:tableStyleId>
              </a:tblPr>
              <a:tblGrid>
                <a:gridCol w="2538400"/>
                <a:gridCol w="2413000"/>
                <a:gridCol w="2413000"/>
              </a:tblGrid>
              <a:tr h="9065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Category</a:t>
                      </a:r>
                      <a:endParaRPr lang="en-US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Description</a:t>
                      </a:r>
                      <a:endParaRPr lang="en-US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Version</a:t>
                      </a:r>
                      <a:endParaRPr lang="en-US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06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Key AI Libraries &amp; Architectures</a:t>
                      </a:r>
                      <a:endParaRPr lang="en-US" sz="1700">
                        <a:solidFill>
                          <a:schemeClr val="dk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• Libraries for XAI (e.g., tf-keras-vis) </a:t>
                      </a:r>
                      <a:endParaRPr>
                        <a:solidFill>
                          <a:schemeClr val="dk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• Vision Transformer (ViT) and/or ConvNeXt as primary model backbones</a:t>
                      </a:r>
                      <a:endParaRPr sz="1700">
                        <a:solidFill>
                          <a:schemeClr val="dk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Times New Roman" panose="02020603050405020304" charset="0"/>
                          <a:cs typeface="Times New Roman" panose="02020603050405020304" charset="0"/>
                        </a:rPr>
                        <a:t>1.5.0</a:t>
                      </a:r>
                      <a:endParaRPr lang="en-US" sz="17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06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Supporting Tools</a:t>
                      </a:r>
                      <a:endParaRPr lang="en-US" sz="1700">
                        <a:solidFill>
                          <a:schemeClr val="dk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 panose="02020603050405020304" charset="0"/>
                          <a:cs typeface="Times New Roman" panose="02020603050405020304" charset="0"/>
                        </a:rPr>
                        <a:t>Git &amp; GitHub (for version control and team collaboration)</a:t>
                      </a:r>
                      <a:endParaRPr lang="en-US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06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Hardware Resources</a:t>
                      </a:r>
                      <a:endParaRPr lang="en-US" sz="1700">
                        <a:solidFill>
                          <a:schemeClr val="dk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 panose="02020603050405020304" charset="0"/>
                          <a:cs typeface="Times New Roman" panose="02020603050405020304" charset="0"/>
                        </a:rPr>
                        <a:t>A GPU-enabled machine (local or cloud-based via Google Colab) is required for training the deep learning models.</a:t>
                      </a:r>
                      <a:endParaRPr lang="en-US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rcRect r="4396" b="-20423"/>
          <a:stretch>
            <a:fillRect/>
          </a:stretch>
        </p:blipFill>
        <p:spPr>
          <a:xfrm>
            <a:off x="0" y="6532245"/>
            <a:ext cx="8741410" cy="38036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6"/>
          <p:cNvSpPr txBox="1"/>
          <p:nvPr>
            <p:ph type="title"/>
          </p:nvPr>
        </p:nvSpPr>
        <p:spPr>
          <a:xfrm>
            <a:off x="40640" y="30480"/>
            <a:ext cx="8328752" cy="694064"/>
          </a:xfrm>
          <a:prstGeom prst="rect">
            <a:avLst/>
          </a:prstGeom>
          <a:solidFill>
            <a:srgbClr val="0037A4"/>
          </a:solidFill>
          <a:ln w="317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90805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Dataset</a:t>
            </a:r>
            <a:endParaRPr lang="en-US" sz="2400"/>
          </a:p>
        </p:txBody>
      </p:sp>
      <p:sp>
        <p:nvSpPr>
          <p:cNvPr id="134" name="Google Shape;134;p16"/>
          <p:cNvSpPr txBox="1"/>
          <p:nvPr/>
        </p:nvSpPr>
        <p:spPr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 panose="02020603050405020304" charset="0"/>
                <a:ea typeface="Helvetica Neue" panose="020B0604020202020204"/>
                <a:cs typeface="Times New Roman" panose="02020603050405020304" charset="0"/>
                <a:sym typeface="Helvetica Neue" panose="020B0604020202020204"/>
              </a:rPr>
              <a:t>Our project will utilize a combination of large-scale public datasets and unlabeled data to enable our semi-supervised learning approach.</a:t>
            </a:r>
            <a:endParaRPr sz="1600">
              <a:solidFill>
                <a:schemeClr val="dk1"/>
              </a:solidFill>
              <a:latin typeface="Times New Roman" panose="02020603050405020304" charset="0"/>
              <a:ea typeface="Helvetica Neue" panose="020B0604020202020204"/>
              <a:cs typeface="Times New Roman" panose="02020603050405020304" charset="0"/>
              <a:sym typeface="Helvetica Neue" panose="020B0604020202020204"/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Times New Roman" panose="02020603050405020304" charset="0"/>
                <a:ea typeface="Helvetica Neue" panose="020B0604020202020204"/>
                <a:cs typeface="Times New Roman" panose="02020603050405020304" charset="0"/>
                <a:sym typeface="Helvetica Neue" panose="020B0604020202020204"/>
              </a:rPr>
              <a:t>Primary Labeled Dataset: xBD Dataset:</a:t>
            </a:r>
            <a:endParaRPr sz="1600" b="1">
              <a:solidFill>
                <a:schemeClr val="dk1"/>
              </a:solidFill>
              <a:latin typeface="Times New Roman" panose="02020603050405020304" charset="0"/>
              <a:ea typeface="Helvetica Neue" panose="020B0604020202020204"/>
              <a:cs typeface="Times New Roman" panose="02020603050405020304" charset="0"/>
              <a:sym typeface="Helvetica Neue" panose="020B0604020202020204"/>
            </a:endParaRPr>
          </a:p>
          <a:p>
            <a:pPr marL="457200" lvl="0" indent="-3111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This is the largest and most widely used benchmark for building damage assessment.</a:t>
            </a:r>
            <a:endParaRPr sz="160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3111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It contains over  850,000 building annotations across 19 different disaster events, including earthquakes, hurricanes, and wildfires.</a:t>
            </a:r>
            <a:endParaRPr sz="160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3111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A key challenge, which our model must address, is the dataset's severe class imbalance, with "no damage" being the overwhelmingly dominant class .</a:t>
            </a:r>
            <a:endParaRPr sz="160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Unlabeled Dataset</a:t>
            </a:r>
            <a:endParaRPr sz="1600" b="1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3111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To power our Semi-Supervised Learning pipeline, we will curate a large dataset of unlabeled images.</a:t>
            </a:r>
            <a:endParaRPr sz="160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These will be sourced from post-disaster surveys, public drone footage, and online repositories, as mentioned in our project proposal.</a:t>
            </a:r>
            <a:endParaRPr sz="160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Times New Roman" panose="02020603050405020304" charset="0"/>
              <a:ea typeface="Helvetica Neue" panose="020B0604020202020204"/>
              <a:cs typeface="Times New Roman" panose="02020603050405020304" charset="0"/>
              <a:sym typeface="Helvetica Neue" panose="020B0604020202020204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rcRect r="4396" b="-20423"/>
          <a:stretch>
            <a:fillRect/>
          </a:stretch>
        </p:blipFill>
        <p:spPr>
          <a:xfrm>
            <a:off x="0" y="6532245"/>
            <a:ext cx="8741410" cy="38036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 lang="en-US" altLang="en-US"/>
              <a:t>Implementation</a:t>
            </a:r>
            <a:endParaRPr lang="en-US" altLang="en-US"/>
          </a:p>
        </p:txBody>
      </p:sp>
      <p:sp>
        <p:nvSpPr>
          <p:cNvPr id="3" name="Text Placeholder 2"/>
          <p:cNvSpPr/>
          <p:nvPr>
            <p:ph type="body" idx="1"/>
          </p:nvPr>
        </p:nvSpPr>
        <p:spPr>
          <a:xfrm>
            <a:off x="86360" y="618490"/>
            <a:ext cx="8953500" cy="6139815"/>
          </a:xfrm>
        </p:spPr>
        <p:txBody>
          <a:bodyPr/>
          <a:p>
            <a:pPr marL="85725" indent="0">
              <a:buNone/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Dataset Preparation &amp; Preprocessing:</a:t>
            </a:r>
            <a:endParaRPr lang="en-US" altLang="en-US" sz="13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500" b="1">
                <a:latin typeface="Times New Roman" panose="02020603050405020304" charset="0"/>
                <a:cs typeface="Times New Roman" panose="02020603050405020304" charset="0"/>
              </a:rPr>
              <a:t>Preprocessing Pipeline (Key Steps):</a:t>
            </a:r>
            <a:endParaRPr lang="en-US" altLang="en-US" sz="1500" b="1">
              <a:latin typeface="Times New Roman" panose="02020603050405020304" charset="0"/>
              <a:cs typeface="Times New Roman" panose="0202060305040502030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1500">
                <a:latin typeface="Times New Roman" panose="02020603050405020304" charset="0"/>
                <a:cs typeface="Times New Roman" panose="02020603050405020304" charset="0"/>
              </a:rPr>
              <a:t>Tiling: Large scenes cropped into 224×224 patches to match ViT input requirements.</a:t>
            </a:r>
            <a:endParaRPr lang="en-US" altLang="en-US" sz="1500">
              <a:latin typeface="Times New Roman" panose="02020603050405020304" charset="0"/>
              <a:cs typeface="Times New Roman" panose="0202060305040502030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1500">
                <a:latin typeface="Times New Roman" panose="02020603050405020304" charset="0"/>
                <a:cs typeface="Times New Roman" panose="02020603050405020304" charset="0"/>
              </a:rPr>
              <a:t>Alignment: Spatial alignment of pre/post images to ensure pixel-to-pixel correspondence.</a:t>
            </a:r>
            <a:endParaRPr lang="en-US" altLang="en-US" sz="1500">
              <a:latin typeface="Times New Roman" panose="02020603050405020304" charset="0"/>
              <a:cs typeface="Times New Roman" panose="0202060305040502030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1500">
                <a:latin typeface="Times New Roman" panose="02020603050405020304" charset="0"/>
                <a:cs typeface="Times New Roman" panose="02020603050405020304" charset="0"/>
              </a:rPr>
              <a:t>Normalization: Pixel values scaled to [0, 1] for model stability.</a:t>
            </a:r>
            <a:endParaRPr lang="en-US" altLang="en-US" sz="1500">
              <a:latin typeface="Times New Roman" panose="02020603050405020304" charset="0"/>
              <a:cs typeface="Times New Roman" panose="02020603050405020304" charset="0"/>
            </a:endParaRPr>
          </a:p>
          <a:p>
            <a:pPr marL="584200" lvl="1" indent="0">
              <a:buFont typeface="Arial" panose="020B0604020202020204" pitchFamily="34" charset="0"/>
              <a:buNone/>
            </a:pPr>
            <a:endParaRPr lang="en-US" altLang="en-US" sz="15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rcRect r="4396" b="-20423"/>
          <a:stretch>
            <a:fillRect/>
          </a:stretch>
        </p:blipFill>
        <p:spPr>
          <a:xfrm>
            <a:off x="0" y="6541135"/>
            <a:ext cx="8741410" cy="38036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065" y="2780665"/>
            <a:ext cx="7967980" cy="364045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3107055" y="6358255"/>
            <a:ext cx="3048000" cy="3702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b="1"/>
              <a:t>Figure 2: Preprocessing</a:t>
            </a:r>
            <a:endParaRPr lang="en-US" b="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 lang="en-US" altLang="en-US"/>
              <a:t>Implementation</a:t>
            </a:r>
            <a:endParaRPr lang="en-US" altLang="en-US"/>
          </a:p>
        </p:txBody>
      </p:sp>
      <p:sp>
        <p:nvSpPr>
          <p:cNvPr id="3" name="Text Placeholder 2"/>
          <p:cNvSpPr/>
          <p:nvPr>
            <p:ph type="body" idx="1"/>
          </p:nvPr>
        </p:nvSpPr>
        <p:spPr/>
        <p:txBody>
          <a:bodyPr/>
          <a:p>
            <a:pPr marL="85725" indent="0">
              <a:buNone/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Core Logic &amp; Model Architecture: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400" b="1">
                <a:latin typeface="Times New Roman" panose="02020603050405020304" charset="0"/>
                <a:cs typeface="Times New Roman" panose="02020603050405020304" charset="0"/>
              </a:rPr>
              <a:t>Model:</a:t>
            </a: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 Vision Transformer (ViT-Tiny) from the timm library.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400" b="1">
                <a:latin typeface="Times New Roman" panose="02020603050405020304" charset="0"/>
                <a:cs typeface="Times New Roman" panose="02020603050405020304" charset="0"/>
              </a:rPr>
              <a:t>Key Innovation:</a:t>
            </a: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 6-Channel Input Adaptation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Standard ViTs accept 3 channels (RGB).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Our Logic: We modified the first projection layer to accept 6 channels (Pre-RGB + Post-RGB).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This allows the model to learn damage features directly from the difference between the two timestamps.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584200" lvl="1" indent="0">
              <a:buFont typeface="Arial" panose="020B0604020202020204" pitchFamily="34" charset="0"/>
              <a:buNone/>
            </a:pP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785" y="3253740"/>
            <a:ext cx="8012430" cy="3085465"/>
          </a:xfrm>
          <a:prstGeom prst="rect">
            <a:avLst/>
          </a:prstGeom>
        </p:spPr>
      </p:pic>
      <p:sp>
        <p:nvSpPr>
          <p:cNvPr id="11" name="Text Box 10"/>
          <p:cNvSpPr txBox="1"/>
          <p:nvPr/>
        </p:nvSpPr>
        <p:spPr>
          <a:xfrm>
            <a:off x="3157220" y="6284595"/>
            <a:ext cx="3048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b="1"/>
              <a:t>Figure 3: Initialization code</a:t>
            </a:r>
            <a:endParaRPr lang="en-US" b="1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rcRect r="4396" b="-20423"/>
          <a:stretch>
            <a:fillRect/>
          </a:stretch>
        </p:blipFill>
        <p:spPr>
          <a:xfrm>
            <a:off x="0" y="6532245"/>
            <a:ext cx="8741410" cy="38036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 lang="en-US" altLang="en-US"/>
              <a:t>Implementation</a:t>
            </a:r>
            <a:endParaRPr lang="en-US" altLang="en-US"/>
          </a:p>
        </p:txBody>
      </p:sp>
      <p:sp>
        <p:nvSpPr>
          <p:cNvPr id="3" name="Text Placeholder 2"/>
          <p:cNvSpPr/>
          <p:nvPr>
            <p:ph type="body" idx="1"/>
          </p:nvPr>
        </p:nvSpPr>
        <p:spPr/>
        <p:txBody>
          <a:bodyPr/>
          <a:p>
            <a:pPr marL="85725" indent="0">
              <a:buNone/>
            </a:pPr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</a:rPr>
              <a:t>System Workflow &amp; Prototype Integration:</a:t>
            </a:r>
            <a:endParaRPr lang="en-US" altLang="en-US" sz="16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500" b="1">
                <a:latin typeface="Times New Roman" panose="02020603050405020304" charset="0"/>
                <a:cs typeface="Times New Roman" panose="02020603050405020304" charset="0"/>
              </a:rPr>
              <a:t>Inference Engine:</a:t>
            </a:r>
            <a:r>
              <a:rPr lang="en-US" altLang="en-US" sz="1500">
                <a:latin typeface="Times New Roman" panose="02020603050405020304" charset="0"/>
                <a:cs typeface="Times New Roman" panose="02020603050405020304" charset="0"/>
              </a:rPr>
              <a:t> Built using Streamlit for real-time interaction.</a:t>
            </a:r>
            <a:endParaRPr lang="en-US" altLang="en-US" sz="15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500" b="1">
                <a:latin typeface="Times New Roman" panose="02020603050405020304" charset="0"/>
                <a:cs typeface="Times New Roman" panose="02020603050405020304" charset="0"/>
              </a:rPr>
              <a:t>End-to-End Workflow:</a:t>
            </a:r>
            <a:endParaRPr lang="en-US" altLang="en-US" sz="1500" b="1">
              <a:latin typeface="Times New Roman" panose="02020603050405020304" charset="0"/>
              <a:cs typeface="Times New Roman" panose="0202060305040502030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1500">
                <a:latin typeface="Times New Roman" panose="02020603050405020304" charset="0"/>
                <a:cs typeface="Times New Roman" panose="02020603050405020304" charset="0"/>
              </a:rPr>
              <a:t>User Upload: Takes Pre &amp; Post images via web UI.</a:t>
            </a:r>
            <a:endParaRPr lang="en-US" altLang="en-US" sz="1500">
              <a:latin typeface="Times New Roman" panose="02020603050405020304" charset="0"/>
              <a:cs typeface="Times New Roman" panose="0202060305040502030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1500">
                <a:latin typeface="Times New Roman" panose="02020603050405020304" charset="0"/>
                <a:cs typeface="Times New Roman" panose="02020603050405020304" charset="0"/>
              </a:rPr>
              <a:t>Tensor Transformation: Images are resized, normalized, and concatenated into a (1, 6, 224, 224) tensor.</a:t>
            </a:r>
            <a:endParaRPr lang="en-US" altLang="en-US" sz="1500">
              <a:latin typeface="Times New Roman" panose="02020603050405020304" charset="0"/>
              <a:cs typeface="Times New Roman" panose="0202060305040502030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1500">
                <a:latin typeface="Times New Roman" panose="02020603050405020304" charset="0"/>
                <a:cs typeface="Times New Roman" panose="02020603050405020304" charset="0"/>
              </a:rPr>
              <a:t>Prediction: Model outputs logits → Softmax → Argmax to generate a segmentation mask.</a:t>
            </a:r>
            <a:endParaRPr lang="en-US" altLang="en-US" sz="1500">
              <a:latin typeface="Times New Roman" panose="02020603050405020304" charset="0"/>
              <a:cs typeface="Times New Roman" panose="0202060305040502030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1500">
                <a:latin typeface="Times New Roman" panose="02020603050405020304" charset="0"/>
                <a:cs typeface="Times New Roman" panose="02020603050405020304" charset="0"/>
              </a:rPr>
              <a:t>Visualization: The mask is overlaid on the post-disaster image with color-coded damage levels.</a:t>
            </a:r>
            <a:endParaRPr lang="en-US" altLang="en-US" sz="15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9960" y="4147185"/>
            <a:ext cx="7524115" cy="209550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3241675" y="6242685"/>
            <a:ext cx="3248660" cy="4432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b="1"/>
              <a:t>Figure 4: Streamlit Inference logic</a:t>
            </a:r>
            <a:endParaRPr lang="en-US" b="1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rcRect r="4396" b="-20423"/>
          <a:stretch>
            <a:fillRect/>
          </a:stretch>
        </p:blipFill>
        <p:spPr>
          <a:xfrm>
            <a:off x="0" y="6532245"/>
            <a:ext cx="8741410" cy="38036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 lang="en-US" altLang="en-US"/>
              <a:t>Experimental Results and Evaluation</a:t>
            </a:r>
            <a:endParaRPr lang="en-US" altLang="en-US"/>
          </a:p>
        </p:txBody>
      </p:sp>
      <p:sp>
        <p:nvSpPr>
          <p:cNvPr id="3" name="Text Placeholder 2"/>
          <p:cNvSpPr/>
          <p:nvPr>
            <p:ph type="body" idx="1"/>
          </p:nvPr>
        </p:nvSpPr>
        <p:spPr>
          <a:xfrm>
            <a:off x="86360" y="577215"/>
            <a:ext cx="8953500" cy="6280785"/>
          </a:xfrm>
        </p:spPr>
        <p:txBody>
          <a:bodyPr/>
          <a:p>
            <a:pPr marL="85725" indent="0">
              <a:buNone/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Quantitative Findings &amp; Metrics: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300" b="1">
                <a:latin typeface="Times New Roman" panose="02020603050405020304" charset="0"/>
                <a:cs typeface="Times New Roman" panose="02020603050405020304" charset="0"/>
              </a:rPr>
              <a:t>Objective: </a:t>
            </a:r>
            <a:r>
              <a:rPr lang="en-US" altLang="en-US" sz="1300">
                <a:latin typeface="Times New Roman" panose="02020603050405020304" charset="0"/>
                <a:cs typeface="Times New Roman" panose="02020603050405020304" charset="0"/>
              </a:rPr>
              <a:t>To establish a rigorous supervised baseline for building damage segmentation.</a:t>
            </a:r>
            <a:endParaRPr lang="en-US" altLang="en-US" sz="13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300" b="1">
                <a:latin typeface="Times New Roman" panose="02020603050405020304" charset="0"/>
                <a:cs typeface="Times New Roman" panose="02020603050405020304" charset="0"/>
              </a:rPr>
              <a:t>Key Achievement:</a:t>
            </a:r>
            <a:r>
              <a:rPr lang="en-US" altLang="en-US" sz="1300">
                <a:latin typeface="Times New Roman" panose="02020603050405020304" charset="0"/>
                <a:cs typeface="Times New Roman" panose="02020603050405020304" charset="0"/>
              </a:rPr>
              <a:t> The ViT-Tiny model achieved a Mean IoU (mIoU) of 0.7421, outperforming traditional CNN baselines by ~3.1%.</a:t>
            </a:r>
            <a:endParaRPr lang="en-US" altLang="en-US" sz="13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300" b="1">
                <a:latin typeface="Times New Roman" panose="02020603050405020304" charset="0"/>
                <a:cs typeface="Times New Roman" panose="02020603050405020304" charset="0"/>
              </a:rPr>
              <a:t>Detailed Metrics (as shown in prototype):</a:t>
            </a:r>
            <a:endParaRPr lang="en-US" altLang="en-US" sz="1300" b="1">
              <a:latin typeface="Times New Roman" panose="02020603050405020304" charset="0"/>
              <a:cs typeface="Times New Roman" panose="0202060305040502030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1300">
                <a:latin typeface="Times New Roman" panose="02020603050405020304" charset="0"/>
                <a:cs typeface="Times New Roman" panose="02020603050405020304" charset="0"/>
              </a:rPr>
              <a:t>No Damage (Class 0): High precision; effectively distinguishes intact structures from vegetation.</a:t>
            </a:r>
            <a:endParaRPr lang="en-US" altLang="en-US" sz="1300">
              <a:latin typeface="Times New Roman" panose="02020603050405020304" charset="0"/>
              <a:cs typeface="Times New Roman" panose="0202060305040502030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1300">
                <a:latin typeface="Times New Roman" panose="02020603050405020304" charset="0"/>
                <a:cs typeface="Times New Roman" panose="02020603050405020304" charset="0"/>
              </a:rPr>
              <a:t>Destroyed (Class 3): Strong localization of rubble and collapsed roofs.</a:t>
            </a:r>
            <a:endParaRPr lang="en-US" altLang="en-US" sz="1300">
              <a:latin typeface="Times New Roman" panose="02020603050405020304" charset="0"/>
              <a:cs typeface="Times New Roman" panose="0202060305040502030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1300">
                <a:latin typeface="Times New Roman" panose="02020603050405020304" charset="0"/>
                <a:cs typeface="Times New Roman" panose="02020603050405020304" charset="0"/>
              </a:rPr>
              <a:t>Minor/Major (Class 1 &amp; 2): Moderate performance.</a:t>
            </a:r>
            <a:endParaRPr lang="en-US" altLang="en-US" sz="1300">
              <a:latin typeface="Times New Roman" panose="02020603050405020304" charset="0"/>
              <a:cs typeface="Times New Roman" panose="02020603050405020304" charset="0"/>
            </a:endParaRPr>
          </a:p>
          <a:p>
            <a:pPr marL="584200" lvl="1" indent="0">
              <a:buFont typeface="Arial" panose="020B0604020202020204" pitchFamily="34" charset="0"/>
              <a:buNone/>
            </a:pPr>
            <a:endParaRPr lang="en-US" altLang="en-US" sz="13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3" descr="Screenshot 2025-12-01 1734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870" y="3615055"/>
            <a:ext cx="7856855" cy="283718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1845945" y="6378575"/>
            <a:ext cx="57880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b="1"/>
              <a:t>Figure 5: Prototype</a:t>
            </a:r>
            <a:endParaRPr lang="en-US" b="1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rcRect t="48451" r="4396" b="-20423"/>
          <a:stretch>
            <a:fillRect/>
          </a:stretch>
        </p:blipFill>
        <p:spPr>
          <a:xfrm>
            <a:off x="0" y="6685280"/>
            <a:ext cx="8741410" cy="22733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 lang="en-US" altLang="en-US"/>
              <a:t>Experimental Results and Evaluation</a:t>
            </a:r>
            <a:endParaRPr lang="en-US" altLang="en-US"/>
          </a:p>
        </p:txBody>
      </p:sp>
      <p:sp>
        <p:nvSpPr>
          <p:cNvPr id="3" name="Text Placeholder 2"/>
          <p:cNvSpPr/>
          <p:nvPr>
            <p:ph type="body" idx="1"/>
          </p:nvPr>
        </p:nvSpPr>
        <p:spPr/>
        <p:txBody>
          <a:bodyPr/>
          <a:p>
            <a:pPr marL="85725" indent="0">
              <a:buNone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85725" indent="0">
              <a:buNone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85725" indent="0">
              <a:buNone/>
            </a:pPr>
            <a:r>
              <a:rPr lang="en-US" altLang="en-US" sz="1400" b="1">
                <a:latin typeface="Times New Roman" panose="02020603050405020304" charset="0"/>
                <a:cs typeface="Times New Roman" panose="02020603050405020304" charset="0"/>
              </a:rPr>
              <a:t>Insights: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ViT improves global context understanding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Small latency increase, better accuracy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640080" y="782320"/>
          <a:ext cx="7863840" cy="1051560"/>
        </p:xfrm>
        <a:graphic>
          <a:graphicData uri="http://schemas.openxmlformats.org/drawingml/2006/table">
            <a:tbl>
              <a:tblPr/>
              <a:tblGrid>
                <a:gridCol w="2621280"/>
                <a:gridCol w="2621280"/>
                <a:gridCol w="2621280"/>
              </a:tblGrid>
              <a:tr h="213360">
                <a:tc>
                  <a:txBody>
                    <a:bodyPr/>
                    <a:p>
                      <a:r>
                        <a:rPr lang="en-US" altLang="zh-CN" sz="14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Model</a:t>
                      </a:r>
                      <a:endParaRPr lang="en-US" altLang="zh-CN" sz="14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4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mIoU</a:t>
                      </a:r>
                      <a:endParaRPr lang="en-US" altLang="zh-CN" sz="14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4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Time</a:t>
                      </a:r>
                      <a:endParaRPr lang="en-US" altLang="zh-CN" sz="14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11480">
                <a:tc>
                  <a:txBody>
                    <a:bodyPr/>
                    <a:p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U-Net (ResNet50)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0.7105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45 ms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26720">
                <a:tc>
                  <a:txBody>
                    <a:bodyPr/>
                    <a:p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ViT-Tiny (Ours)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0.7421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52 ms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6" name="Picture 5" descr="Screenshot 2025-12-01 1806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740" y="2976245"/>
            <a:ext cx="7655560" cy="3347720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3404870" y="6323965"/>
            <a:ext cx="3048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b="1"/>
              <a:t>Figure 6: Metrics Score</a:t>
            </a:r>
            <a:endParaRPr lang="en-US" b="1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rcRect t="31161" r="4396" b="-20423"/>
          <a:stretch>
            <a:fillRect/>
          </a:stretch>
        </p:blipFill>
        <p:spPr>
          <a:xfrm>
            <a:off x="0" y="6630670"/>
            <a:ext cx="8741410" cy="28194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 lang="en-US" altLang="en-US"/>
              <a:t>Experimental Results and Evaluation</a:t>
            </a:r>
            <a:endParaRPr lang="en-US" altLang="en-US"/>
          </a:p>
        </p:txBody>
      </p:sp>
      <p:sp>
        <p:nvSpPr>
          <p:cNvPr id="3" name="Text Placeholder 2"/>
          <p:cNvSpPr/>
          <p:nvPr>
            <p:ph type="body" idx="1"/>
          </p:nvPr>
        </p:nvSpPr>
        <p:spPr/>
        <p:txBody>
          <a:bodyPr/>
          <a:p>
            <a:pPr marL="85725" indent="0">
              <a:buNone/>
            </a:pPr>
            <a:r>
              <a:rPr lang="en-US" altLang="en-US" sz="1400" b="1">
                <a:latin typeface="Times New Roman" panose="02020603050405020304" charset="0"/>
                <a:cs typeface="Times New Roman" panose="02020603050405020304" charset="0"/>
              </a:rPr>
              <a:t>Performance: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&lt; 1 sec inference per tile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Stable multi-class performance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85725" indent="0">
              <a:buNone/>
            </a:pPr>
            <a:r>
              <a:rPr lang="en-US" altLang="en-US" sz="1400" b="1">
                <a:latin typeface="Times New Roman" panose="02020603050405020304" charset="0"/>
                <a:cs typeface="Times New Roman" panose="02020603050405020304" charset="0"/>
              </a:rPr>
              <a:t>Operational Value:</a:t>
            </a:r>
            <a:endParaRPr lang="en-US" altLang="en-US" sz="14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Deployment-ready prototype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Reliable baseline for SSL Phase-2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3" descr="Screenshot 2025-12-02 2303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3745" y="3200400"/>
            <a:ext cx="7689215" cy="311086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2581275" y="6311265"/>
            <a:ext cx="4572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b="1">
                <a:sym typeface="+mn-ea"/>
              </a:rPr>
              <a:t>Figure 7: Per-class IoU and F1</a:t>
            </a:r>
            <a:endParaRPr lang="en-US" b="1">
              <a:sym typeface="+mn-ea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rcRect t="27140" r="4396" b="-20423"/>
          <a:stretch>
            <a:fillRect/>
          </a:stretch>
        </p:blipFill>
        <p:spPr>
          <a:xfrm>
            <a:off x="0" y="6617970"/>
            <a:ext cx="8741410" cy="2946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"/>
          <p:cNvSpPr txBox="1"/>
          <p:nvPr>
            <p:ph type="title"/>
          </p:nvPr>
        </p:nvSpPr>
        <p:spPr>
          <a:xfrm>
            <a:off x="40640" y="30480"/>
            <a:ext cx="8328752" cy="694064"/>
          </a:xfrm>
          <a:prstGeom prst="rect">
            <a:avLst/>
          </a:prstGeom>
          <a:solidFill>
            <a:srgbClr val="0037A4"/>
          </a:solidFill>
          <a:ln w="317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90805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Key Learnings</a:t>
            </a:r>
            <a:endParaRPr lang="en-US" sz="2400"/>
          </a:p>
        </p:txBody>
      </p:sp>
      <p:sp>
        <p:nvSpPr>
          <p:cNvPr id="140" name="Google Shape;140;p19"/>
          <p:cNvSpPr txBox="1"/>
          <p:nvPr/>
        </p:nvSpPr>
        <p:spPr>
          <a:xfrm>
            <a:off x="77118" y="804231"/>
            <a:ext cx="8956800" cy="57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160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Our initial literature review has provided several key technical insights that will guide our project's implementation:</a:t>
            </a:r>
            <a:endParaRPr sz="160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sz="1600" b="1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Architecture Matters:</a:t>
            </a:r>
            <a:r>
              <a:rPr lang="en-US" sz="160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 Vision Transformers (ViTs) are demonstrably superior to traditional CNNs for damage assessment tasks, as their self-attention mechanism is better at capturing the global context of structural damage across an entire building.</a:t>
            </a:r>
            <a:endParaRPr sz="160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sz="1600" b="1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SSL is Essential for Data Efficiency:</a:t>
            </a:r>
            <a:r>
              <a:rPr lang="en-US" sz="160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 Semi-Supervised Learning (SSL) is a critical strategy for overcoming data scarcity. Advanced methods like EMA-Teacher can achieve performance comparable to fully supervised models while using only a small fraction of the labeled data .</a:t>
            </a:r>
            <a:endParaRPr sz="160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sz="1600" b="1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XAI is Necessary for Trust:</a:t>
            </a:r>
            <a:r>
              <a:rPr lang="en-US" sz="160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 In high-stakes applications like disaster response, model transparency is non-negotiable.  Explainable AI (XAI) using methods like Grad-CAM is essential for validating a model's reasoning and building trust with end-users.</a:t>
            </a:r>
            <a:endParaRPr sz="160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sz="1600" b="1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Data Quality and Type are Paramount: </a:t>
            </a:r>
            <a:r>
              <a:rPr lang="en-US" sz="160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The success of any model depends heavily on the input data.</a:t>
            </a:r>
            <a:br>
              <a:rPr lang="en-US" sz="160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sz="160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 Ultra-high-resolution aerial (UHRA) imagery provides significantly more detail than standard satellite data, leading to better performance. At the same time, challenges like the</a:t>
            </a:r>
            <a:br>
              <a:rPr lang="en-US" sz="160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sz="160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 class imbalance in benchmark datasets must be actively managed.</a:t>
            </a:r>
            <a:endParaRPr sz="160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Times New Roman" panose="02020603050405020304" charset="0"/>
              <a:ea typeface="Helvetica Neue" panose="020B0604020202020204"/>
              <a:cs typeface="Times New Roman" panose="02020603050405020304" charset="0"/>
              <a:sym typeface="Helvetica Neue" panose="020B0604020202020204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rcRect r="4396" b="-20423"/>
          <a:stretch>
            <a:fillRect/>
          </a:stretch>
        </p:blipFill>
        <p:spPr>
          <a:xfrm>
            <a:off x="0" y="6532245"/>
            <a:ext cx="8741410" cy="38036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2"/>
          <p:cNvSpPr txBox="1"/>
          <p:nvPr>
            <p:ph type="title"/>
          </p:nvPr>
        </p:nvSpPr>
        <p:spPr>
          <a:xfrm>
            <a:off x="40640" y="30480"/>
            <a:ext cx="8328752" cy="694064"/>
          </a:xfrm>
          <a:prstGeom prst="rect">
            <a:avLst/>
          </a:prstGeom>
          <a:solidFill>
            <a:srgbClr val="0037A4"/>
          </a:solidFill>
          <a:ln w="317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90805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Work Contribution and Attendance</a:t>
            </a:r>
            <a:endParaRPr b="0"/>
          </a:p>
        </p:txBody>
      </p:sp>
      <p:sp>
        <p:nvSpPr>
          <p:cNvPr id="159" name="Google Shape;159;p22"/>
          <p:cNvSpPr txBox="1"/>
          <p:nvPr/>
        </p:nvSpPr>
        <p:spPr>
          <a:xfrm>
            <a:off x="77118" y="804231"/>
            <a:ext cx="8956714" cy="5172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525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 panose="020B0604020202020204"/>
              <a:buNone/>
            </a:pPr>
            <a:endParaRPr sz="1800">
              <a:solidFill>
                <a:schemeClr val="dk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  <p:graphicFrame>
        <p:nvGraphicFramePr>
          <p:cNvPr id="160" name="Google Shape;160;p22"/>
          <p:cNvGraphicFramePr/>
          <p:nvPr>
            <p:custDataLst>
              <p:tags r:id="rId1"/>
            </p:custDataLst>
          </p:nvPr>
        </p:nvGraphicFramePr>
        <p:xfrm>
          <a:off x="0" y="724535"/>
          <a:ext cx="9146540" cy="5847080"/>
        </p:xfrm>
        <a:graphic>
          <a:graphicData uri="http://schemas.openxmlformats.org/drawingml/2006/table">
            <a:tbl>
              <a:tblPr firstRow="1" bandRow="1">
                <a:noFill/>
                <a:tableStyleId>{0FDD740C-D32F-4F01-9374-D45B8AFD0EE1}</a:tableStyleId>
              </a:tblPr>
              <a:tblGrid>
                <a:gridCol w="810895"/>
                <a:gridCol w="930275"/>
                <a:gridCol w="4742815"/>
                <a:gridCol w="856615"/>
                <a:gridCol w="815340"/>
                <a:gridCol w="990600"/>
              </a:tblGrid>
              <a:tr h="464185">
                <a:tc gridSpan="6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i="0">
                          <a:solidFill>
                            <a:schemeClr val="dk1"/>
                          </a:solidFill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GitHub Repository URL: https://github.com/khushi-1401/PostQuake-DamageXSSL</a:t>
                      </a:r>
                      <a:endParaRPr lang="en-US" sz="1300" b="1" i="0">
                        <a:solidFill>
                          <a:schemeClr val="dk1"/>
                        </a:solidFill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 anchor="ctr">
                    <a:solidFill>
                      <a:srgbClr val="D5D59B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>
                          <a:solidFill>
                            <a:schemeClr val="dk1"/>
                          </a:solidFill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Team Member</a:t>
                      </a:r>
                      <a:endParaRPr lang="en-US" sz="1300" b="0" i="0">
                        <a:solidFill>
                          <a:schemeClr val="dk1"/>
                        </a:solidFill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>
                          <a:solidFill>
                            <a:schemeClr val="dk1"/>
                          </a:solidFill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Roll No.</a:t>
                      </a:r>
                      <a:endParaRPr lang="en-US" sz="1300" b="0" i="0">
                        <a:solidFill>
                          <a:schemeClr val="dk1"/>
                        </a:solidFill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>
                          <a:solidFill>
                            <a:schemeClr val="dk1"/>
                          </a:solidFill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Work Done</a:t>
                      </a:r>
                      <a:endParaRPr sz="13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>
                          <a:solidFill>
                            <a:schemeClr val="dk1"/>
                          </a:solidFill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(provide complete details)</a:t>
                      </a:r>
                      <a:endParaRPr sz="13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50" marR="91450" marT="45725" marB="45725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 panose="020B0604020202020204"/>
                        <a:buNone/>
                      </a:pPr>
                      <a:r>
                        <a:rPr lang="en-US" sz="1300" b="0" i="0">
                          <a:solidFill>
                            <a:schemeClr val="dk1"/>
                          </a:solidFill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Work Contribution (%)</a:t>
                      </a:r>
                      <a:endParaRPr lang="en-US" sz="1300" b="0" i="0">
                        <a:solidFill>
                          <a:schemeClr val="dk1"/>
                        </a:solidFill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>
                          <a:solidFill>
                            <a:schemeClr val="dk1"/>
                          </a:solidFill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Lines of Code</a:t>
                      </a:r>
                      <a:endParaRPr sz="13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>
                          <a:solidFill>
                            <a:schemeClr val="dk1"/>
                          </a:solidFill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(if any)</a:t>
                      </a:r>
                      <a:endParaRPr sz="13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50" marR="91450" marT="45725" marB="45725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>
                          <a:solidFill>
                            <a:schemeClr val="dk1"/>
                          </a:solidFill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Lab Attendance (%)</a:t>
                      </a:r>
                      <a:endParaRPr lang="en-US" sz="1300" b="0" i="0">
                        <a:solidFill>
                          <a:schemeClr val="dk1"/>
                        </a:solidFill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D5D59B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1.</a:t>
                      </a:r>
                      <a:endParaRPr lang="en-US" sz="13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221030034</a:t>
                      </a:r>
                      <a:endParaRPr lang="en-US" sz="13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marL="33020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3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Assisted in preparing the dataset preprocessing pipeline by verifying tile generation and mask remapping.</a:t>
                      </a:r>
                      <a:endParaRPr lang="en-US" altLang="en-US" sz="13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  <a:p>
                      <a:pPr marL="33020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3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Contributed code reviews for augmentation and normalization steps.</a:t>
                      </a:r>
                      <a:endParaRPr lang="en-US" altLang="en-US" sz="13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  <a:p>
                      <a:pPr marL="33020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3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Developed the evaluation module: mIoU, F1, Kappa, per-class metrics, and confusion matrix.</a:t>
                      </a:r>
                      <a:endParaRPr lang="en-US" altLang="en-US" sz="13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 panose="020B0604020202020204"/>
                        <a:buNone/>
                      </a:pPr>
                      <a:r>
                        <a:rPr lang="en-US" sz="13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25%</a:t>
                      </a:r>
                      <a:endParaRPr lang="en-US" sz="13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 panose="020B0604020202020204"/>
                        <a:buNone/>
                      </a:pPr>
                      <a:endParaRPr sz="13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 panose="020B0604020202020204"/>
                        <a:buNone/>
                      </a:pPr>
                      <a:r>
                        <a:rPr lang="en-US" sz="13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100%</a:t>
                      </a:r>
                      <a:endParaRPr lang="en-US" sz="13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4F9ED"/>
                    </a:solidFill>
                  </a:tcPr>
                </a:tc>
              </a:tr>
              <a:tr h="122047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2.</a:t>
                      </a:r>
                      <a:endParaRPr lang="en-US" sz="13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221030455</a:t>
                      </a:r>
                      <a:endParaRPr lang="en-US" sz="13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33020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3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Modified ViT-Tiny patch embedding for 6-channel input and added decoder layers and integrated forward pass logic.</a:t>
                      </a:r>
                      <a:endParaRPr lang="en-US" altLang="en-US" sz="130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  <a:p>
                      <a:pPr marL="33020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3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Wrote the training script, including loss functions, optimizer, scheduler, and logging.</a:t>
                      </a:r>
                      <a:endParaRPr lang="en-US" altLang="en-US" sz="130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  <a:p>
                      <a:pPr marL="33020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3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Built the Streamlit UI: image upload, preprocessing, inference, overlay generation.</a:t>
                      </a:r>
                      <a:endParaRPr lang="en-US" altLang="en-US" sz="130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 panose="020B0604020202020204"/>
                        <a:buNone/>
                      </a:pPr>
                      <a:r>
                        <a:rPr lang="en-US" sz="13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25%</a:t>
                      </a:r>
                      <a:endParaRPr sz="130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 panose="020B0604020202020204"/>
                        <a:buNone/>
                      </a:pPr>
                      <a:endParaRPr sz="130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 panose="020B0604020202020204"/>
                        <a:buNone/>
                      </a:pPr>
                      <a:endParaRPr sz="13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 panose="020B0604020202020204"/>
                        <a:buNone/>
                      </a:pPr>
                      <a:r>
                        <a:rPr lang="en-US" sz="13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100%</a:t>
                      </a:r>
                      <a:endParaRPr sz="130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 panose="020B0604020202020204"/>
                        <a:buNone/>
                      </a:pPr>
                      <a:endParaRPr sz="130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0F0DD"/>
                    </a:solidFill>
                  </a:tcPr>
                </a:tc>
              </a:tr>
              <a:tr h="122110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3.</a:t>
                      </a:r>
                      <a:endParaRPr lang="en-US" sz="13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221030245</a:t>
                      </a:r>
                      <a:endParaRPr lang="en-US" sz="13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marL="33020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3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Tested model inference outputs and compared predicted masks with ground truth.</a:t>
                      </a:r>
                      <a:endParaRPr lang="en-US" altLang="en-US" sz="130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  <a:p>
                      <a:pPr marL="33020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3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Worked on validating metric scripts and ensuring correct label mapping.</a:t>
                      </a:r>
                      <a:endParaRPr lang="en-US" altLang="en-US" sz="130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  <a:p>
                      <a:pPr marL="33020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3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Helped refine visualization functions (color masks, overlay blending).</a:t>
                      </a:r>
                      <a:endParaRPr lang="en-US" altLang="en-US" sz="130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 panose="020B0604020202020204"/>
                        <a:buNone/>
                      </a:pPr>
                      <a:r>
                        <a:rPr lang="en-US" sz="13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25%</a:t>
                      </a:r>
                      <a:endParaRPr sz="130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 panose="020B0604020202020204"/>
                        <a:buNone/>
                      </a:pPr>
                      <a:endParaRPr sz="130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 panose="020B0604020202020204"/>
                        <a:buNone/>
                      </a:pPr>
                      <a:endParaRPr sz="13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 panose="020B0604020202020204"/>
                        <a:buNone/>
                      </a:pPr>
                      <a:r>
                        <a:rPr lang="en-US" sz="13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100%</a:t>
                      </a:r>
                      <a:endParaRPr sz="130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 panose="020B0604020202020204"/>
                        <a:buNone/>
                      </a:pPr>
                      <a:endParaRPr sz="130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4F9ED"/>
                    </a:solidFill>
                  </a:tcPr>
                </a:tc>
              </a:tr>
              <a:tr h="85661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4.</a:t>
                      </a:r>
                      <a:endParaRPr lang="en-US" sz="13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221030331</a:t>
                      </a:r>
                      <a:endParaRPr lang="en-US" sz="13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marL="33020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3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Assisted with writing utility functions for preprocessing and file handling.</a:t>
                      </a:r>
                      <a:endParaRPr lang="en-US" altLang="en-US" sz="13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  <a:p>
                      <a:pPr marL="33020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3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Helped document the implementation steps.</a:t>
                      </a:r>
                      <a:endParaRPr lang="en-US" altLang="en-US" sz="13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 panose="020B0604020202020204"/>
                        <a:buNone/>
                      </a:pPr>
                      <a:r>
                        <a:rPr lang="en-US" sz="13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25%</a:t>
                      </a:r>
                      <a:endParaRPr sz="130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 panose="020B0604020202020204"/>
                        <a:buNone/>
                      </a:pPr>
                      <a:endParaRPr sz="130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 panose="020B0604020202020204"/>
                        <a:buNone/>
                      </a:pPr>
                      <a:endParaRPr sz="13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 panose="020B0604020202020204"/>
                        <a:buNone/>
                      </a:pPr>
                      <a:r>
                        <a:rPr lang="en-US" sz="13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100%</a:t>
                      </a:r>
                      <a:endParaRPr sz="130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 panose="020B0604020202020204"/>
                        <a:buNone/>
                      </a:pPr>
                      <a:endParaRPr sz="130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4F9ED"/>
                    </a:solidFill>
                  </a:tcPr>
                </a:tc>
              </a:tr>
            </a:tbl>
          </a:graphicData>
        </a:graphic>
      </p:graphicFrame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rcRect r="4396" b="-20423"/>
          <a:stretch>
            <a:fillRect/>
          </a:stretch>
        </p:blipFill>
        <p:spPr>
          <a:xfrm>
            <a:off x="0" y="6532245"/>
            <a:ext cx="8741410" cy="38036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3"/>
          <p:cNvSpPr txBox="1"/>
          <p:nvPr>
            <p:ph type="title"/>
          </p:nvPr>
        </p:nvSpPr>
        <p:spPr>
          <a:xfrm>
            <a:off x="40640" y="30480"/>
            <a:ext cx="8328752" cy="694064"/>
          </a:xfrm>
          <a:prstGeom prst="rect">
            <a:avLst/>
          </a:prstGeom>
          <a:solidFill>
            <a:srgbClr val="0037A4"/>
          </a:solidFill>
          <a:ln w="317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90805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Supervisor </a:t>
            </a:r>
            <a:r>
              <a:rPr lang="en-US"/>
              <a:t>Interactions </a:t>
            </a:r>
            <a:r>
              <a:rPr lang="en-US" b="0"/>
              <a:t>(as mentioned in weekly log)</a:t>
            </a:r>
            <a:endParaRPr b="0"/>
          </a:p>
        </p:txBody>
      </p:sp>
      <p:sp>
        <p:nvSpPr>
          <p:cNvPr id="166" name="Google Shape;166;p23"/>
          <p:cNvSpPr txBox="1"/>
          <p:nvPr/>
        </p:nvSpPr>
        <p:spPr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525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 panose="020B0604020202020204"/>
              <a:buNone/>
            </a:pPr>
            <a:endParaRPr sz="1800">
              <a:solidFill>
                <a:schemeClr val="dk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  <p:graphicFrame>
        <p:nvGraphicFramePr>
          <p:cNvPr id="167" name="Google Shape;167;p23"/>
          <p:cNvGraphicFramePr/>
          <p:nvPr>
            <p:custDataLst>
              <p:tags r:id="rId1"/>
            </p:custDataLst>
          </p:nvPr>
        </p:nvGraphicFramePr>
        <p:xfrm>
          <a:off x="109855" y="881380"/>
          <a:ext cx="8956675" cy="5399405"/>
        </p:xfrm>
        <a:graphic>
          <a:graphicData uri="http://schemas.openxmlformats.org/drawingml/2006/table">
            <a:tbl>
              <a:tblPr firstRow="1" bandRow="1">
                <a:noFill/>
                <a:tableStyleId>{0FDD740C-D32F-4F01-9374-D45B8AFD0EE1}</a:tableStyleId>
              </a:tblPr>
              <a:tblGrid>
                <a:gridCol w="661035"/>
                <a:gridCol w="1382395"/>
                <a:gridCol w="5673725"/>
                <a:gridCol w="1239520"/>
              </a:tblGrid>
              <a:tr h="441325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>
                          <a:solidFill>
                            <a:schemeClr val="dk1"/>
                          </a:solidFill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No. of Meetings with Supervisor: </a:t>
                      </a:r>
                      <a:endParaRPr lang="en-US" sz="1400" b="1" i="0">
                        <a:solidFill>
                          <a:schemeClr val="dk1"/>
                        </a:solidFill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 anchor="ctr">
                    <a:solidFill>
                      <a:srgbClr val="D5D59B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52578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>
                          <a:solidFill>
                            <a:schemeClr val="dk1"/>
                          </a:solidFill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Week No.</a:t>
                      </a:r>
                      <a:endParaRPr lang="en-US" sz="1300" b="0" i="0">
                        <a:solidFill>
                          <a:schemeClr val="dk1"/>
                        </a:solidFill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>
                          <a:solidFill>
                            <a:schemeClr val="dk1"/>
                          </a:solidFill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Duration</a:t>
                      </a:r>
                      <a:endParaRPr lang="en-US" sz="1300" b="0" i="0">
                        <a:solidFill>
                          <a:schemeClr val="dk1"/>
                        </a:solidFill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>
                          <a:solidFill>
                            <a:schemeClr val="dk1"/>
                          </a:solidFill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Remarks (</a:t>
                      </a:r>
                      <a:r>
                        <a:rPr lang="en-US" sz="1300" b="1" i="0">
                          <a:solidFill>
                            <a:schemeClr val="dk1"/>
                          </a:solidFill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as mentioned in the weekly log</a:t>
                      </a:r>
                      <a:r>
                        <a:rPr lang="en-US" sz="1300" b="0" i="0">
                          <a:solidFill>
                            <a:schemeClr val="dk1"/>
                          </a:solidFill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)</a:t>
                      </a:r>
                      <a:endParaRPr lang="en-US" sz="1300" b="0" i="0">
                        <a:solidFill>
                          <a:schemeClr val="dk1"/>
                        </a:solidFill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>
                          <a:solidFill>
                            <a:schemeClr val="dk1"/>
                          </a:solidFill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Incorporated</a:t>
                      </a:r>
                      <a:endParaRPr lang="en-US" sz="1300" b="0" i="0">
                        <a:solidFill>
                          <a:schemeClr val="dk1"/>
                        </a:solidFill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>
                          <a:solidFill>
                            <a:schemeClr val="dk1"/>
                          </a:solidFill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(Yes/No)</a:t>
                      </a:r>
                      <a:endParaRPr lang="en-US" sz="1300" b="0" i="0">
                        <a:solidFill>
                          <a:schemeClr val="dk1"/>
                        </a:solidFill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D5D59B"/>
                    </a:solidFill>
                  </a:tcPr>
                </a:tc>
              </a:tr>
              <a:tr h="85788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1.</a:t>
                      </a:r>
                      <a:endParaRPr lang="en-US" sz="13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25</a:t>
                      </a:r>
                      <a:r>
                        <a:rPr lang="en-US" sz="13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/</a:t>
                      </a:r>
                      <a:r>
                        <a:rPr lang="en-US" sz="13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08</a:t>
                      </a:r>
                      <a:r>
                        <a:rPr lang="en-US" sz="13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/2025 </a:t>
                      </a:r>
                      <a:endParaRPr lang="en-US" sz="13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to</a:t>
                      </a:r>
                      <a:endParaRPr lang="en-US" sz="13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 panose="020B0604020202020204"/>
                        <a:buNone/>
                      </a:pPr>
                      <a:r>
                        <a:rPr lang="en-US" sz="13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29</a:t>
                      </a:r>
                      <a:r>
                        <a:rPr lang="en-US" sz="13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/</a:t>
                      </a:r>
                      <a:r>
                        <a:rPr lang="en-US" sz="13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08</a:t>
                      </a:r>
                      <a:r>
                        <a:rPr lang="en-US" sz="13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/2025</a:t>
                      </a:r>
                      <a:endParaRPr lang="en-US" sz="13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marL="43180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Font typeface="Arial" panose="020B0604020202020204" pitchFamily="34" charset="0"/>
                        <a:buChar char="•"/>
                      </a:pPr>
                      <a:r>
                        <a:rPr lang="en-US" sz="13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Finalized</a:t>
                      </a:r>
                      <a:r>
                        <a:rPr lang="en-US" sz="13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 project objectives and scope.</a:t>
                      </a:r>
                      <a:endParaRPr lang="en-US" sz="130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  <a:p>
                      <a:pPr marL="43180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Font typeface="Arial" panose="020B0604020202020204" pitchFamily="34" charset="0"/>
                        <a:buChar char="•"/>
                      </a:pPr>
                      <a:r>
                        <a:rPr lang="en-US" sz="13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  <a:sym typeface="Arial" panose="020B0604020202020204"/>
                        </a:rPr>
                        <a:t>Assigned initial task to read research papers on core topics</a:t>
                      </a:r>
                      <a:endParaRPr sz="16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marL="43180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Font typeface="Arial" panose="020B0604020202020204" pitchFamily="34" charset="0"/>
                        <a:buChar char="•"/>
                      </a:pPr>
                      <a:r>
                        <a:rPr lang="en-US" sz="13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Each member to start with two foundational papers.</a:t>
                      </a:r>
                      <a:endParaRPr lang="en-US" sz="130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 panose="020B0604020202020204"/>
                        <a:buNone/>
                      </a:pPr>
                      <a:r>
                        <a:rPr lang="en-US" sz="13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Yes</a:t>
                      </a:r>
                      <a:endParaRPr lang="en-US" sz="13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4F9ED"/>
                    </a:solidFill>
                  </a:tcPr>
                </a:tc>
              </a:tr>
              <a:tr h="85852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2.</a:t>
                      </a:r>
                      <a:endParaRPr lang="en-US" sz="13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15</a:t>
                      </a:r>
                      <a:r>
                        <a:rPr lang="en-US" sz="13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/</a:t>
                      </a:r>
                      <a:r>
                        <a:rPr lang="en-US" sz="13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09</a:t>
                      </a:r>
                      <a:r>
                        <a:rPr lang="en-US" sz="13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/2025 </a:t>
                      </a:r>
                      <a:endParaRPr lang="en-US" sz="13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to</a:t>
                      </a:r>
                      <a:endParaRPr lang="en-US" sz="13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 panose="020B0604020202020204"/>
                        <a:buNone/>
                      </a:pPr>
                      <a:r>
                        <a:rPr lang="en-US" sz="13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17</a:t>
                      </a:r>
                      <a:r>
                        <a:rPr lang="en-US" sz="13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/</a:t>
                      </a:r>
                      <a:r>
                        <a:rPr lang="en-US" sz="13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09</a:t>
                      </a:r>
                      <a:r>
                        <a:rPr lang="en-US" sz="13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/2025</a:t>
                      </a:r>
                      <a:endParaRPr lang="en-US" sz="13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43180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Font typeface="Arial" panose="020B0604020202020204" pitchFamily="34" charset="0"/>
                        <a:buChar char="•"/>
                      </a:pPr>
                      <a:r>
                        <a:rPr lang="en-US" sz="13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Discussed findings from initial literature review. </a:t>
                      </a:r>
                      <a:endParaRPr lang="en-US" sz="130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  <a:p>
                      <a:pPr marL="43180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Font typeface="Arial" panose="020B0604020202020204" pitchFamily="34" charset="0"/>
                        <a:buChar char="•"/>
                      </a:pPr>
                      <a:r>
                        <a:rPr lang="en-US" sz="13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  <a:sym typeface="Arial" panose="020B0604020202020204"/>
                        </a:rPr>
                        <a:t>Instructed the team to research for suitable public datasets</a:t>
                      </a:r>
                      <a:endParaRPr sz="16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marL="43180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Font typeface="Arial" panose="020B0604020202020204" pitchFamily="34" charset="0"/>
                        <a:buChar char="•"/>
                      </a:pPr>
                      <a:r>
                        <a:rPr lang="en-US" sz="13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Tasked each member to do an in-depth review of one specific paper.</a:t>
                      </a:r>
                      <a:endParaRPr lang="en-US" sz="130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 panose="020B0604020202020204"/>
                        <a:buNone/>
                      </a:pPr>
                      <a:r>
                        <a:rPr lang="en-US" sz="13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Yes</a:t>
                      </a:r>
                      <a:endParaRPr lang="en-US" sz="13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0F0DD"/>
                    </a:solidFill>
                  </a:tcPr>
                </a:tc>
              </a:tr>
              <a:tr h="85788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3.</a:t>
                      </a:r>
                      <a:endParaRPr lang="en-US" sz="13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18</a:t>
                      </a:r>
                      <a:r>
                        <a:rPr lang="en-US" sz="13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/</a:t>
                      </a:r>
                      <a:r>
                        <a:rPr lang="en-US" sz="13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09</a:t>
                      </a:r>
                      <a:r>
                        <a:rPr lang="en-US" sz="13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/2025 </a:t>
                      </a:r>
                      <a:endParaRPr lang="en-US" sz="13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to</a:t>
                      </a:r>
                      <a:endParaRPr lang="en-US" sz="13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 panose="020B0604020202020204"/>
                        <a:buNone/>
                      </a:pPr>
                      <a:r>
                        <a:rPr lang="en-US" sz="13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20</a:t>
                      </a:r>
                      <a:r>
                        <a:rPr lang="en-US" sz="13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/</a:t>
                      </a:r>
                      <a:r>
                        <a:rPr lang="en-US" sz="13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09</a:t>
                      </a:r>
                      <a:r>
                        <a:rPr lang="en-US" sz="13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/2025</a:t>
                      </a:r>
                      <a:endParaRPr lang="en-US" sz="13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marL="43180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Font typeface="Arial" panose="020B0604020202020204" pitchFamily="34" charset="0"/>
                        <a:buChar char="•"/>
                      </a:pPr>
                      <a:r>
                        <a:rPr lang="en-US" sz="13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Confirmed the choice of the xBD dataset.</a:t>
                      </a:r>
                      <a:endParaRPr lang="en-US" sz="130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  <a:p>
                      <a:pPr marL="43180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Font typeface="Arial" panose="020B0604020202020204" pitchFamily="34" charset="0"/>
                        <a:buChar char="•"/>
                      </a:pPr>
                      <a:r>
                        <a:rPr lang="en-US" sz="13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Finalized the plan for implementing the baseline model.</a:t>
                      </a:r>
                      <a:endParaRPr lang="en-US" sz="130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50" marR="91450" marT="45725" marB="45725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 panose="020B0604020202020204"/>
                        <a:buNone/>
                      </a:pPr>
                      <a:r>
                        <a:rPr lang="en-US" sz="13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Yes</a:t>
                      </a:r>
                      <a:endParaRPr lang="en-US" sz="13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4F9ED"/>
                    </a:solidFill>
                  </a:tcPr>
                </a:tc>
              </a:tr>
              <a:tr h="92900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4.</a:t>
                      </a:r>
                      <a:endParaRPr lang="en-US" sz="13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22</a:t>
                      </a:r>
                      <a:r>
                        <a:rPr lang="en-US" sz="13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/</a:t>
                      </a:r>
                      <a:r>
                        <a:rPr lang="en-US" sz="13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09</a:t>
                      </a:r>
                      <a:r>
                        <a:rPr lang="en-US" sz="13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/2025 </a:t>
                      </a:r>
                      <a:endParaRPr lang="en-US" sz="13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to</a:t>
                      </a:r>
                      <a:endParaRPr lang="en-US" sz="13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 panose="020B0604020202020204"/>
                        <a:buNone/>
                      </a:pPr>
                      <a:r>
                        <a:rPr lang="en-US" sz="13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24</a:t>
                      </a:r>
                      <a:r>
                        <a:rPr lang="en-US" sz="13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/</a:t>
                      </a:r>
                      <a:r>
                        <a:rPr lang="en-US" sz="13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09</a:t>
                      </a:r>
                      <a:r>
                        <a:rPr lang="en-US" sz="13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/2025</a:t>
                      </a:r>
                      <a:endParaRPr lang="en-US" sz="13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43180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Font typeface="Arial" panose="020B0604020202020204" pitchFamily="34" charset="0"/>
                        <a:buChar char="•"/>
                      </a:pPr>
                      <a:r>
                        <a:rPr lang="en-US" sz="13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Reviewed the expanded list of 20 research papers for the literature survey.</a:t>
                      </a:r>
                      <a:endParaRPr sz="160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  <a:p>
                      <a:pPr marL="43180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Font typeface="Arial" panose="020B0604020202020204" pitchFamily="34" charset="0"/>
                        <a:buChar char="•"/>
                      </a:pPr>
                      <a:r>
                        <a:rPr lang="en-US" sz="13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Advised on the structure for the Mid-Term presentation</a:t>
                      </a:r>
                      <a:endParaRPr lang="en-US" sz="130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  <a:p>
                      <a:pPr marL="914400" marR="0" lvl="1" indent="-3175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○"/>
                      </a:pPr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50" marR="91450" marT="45725" marB="45725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 panose="020B0604020202020204"/>
                        <a:buNone/>
                      </a:pPr>
                      <a:r>
                        <a:rPr lang="en-US" sz="13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Yes</a:t>
                      </a:r>
                      <a:endParaRPr lang="en-US" sz="13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0F0DD"/>
                    </a:solidFill>
                  </a:tcPr>
                </a:tc>
              </a:tr>
              <a:tr h="92900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5.</a:t>
                      </a:r>
                      <a:endParaRPr lang="en-US" sz="13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25</a:t>
                      </a:r>
                      <a:r>
                        <a:rPr lang="en-US" sz="13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/</a:t>
                      </a:r>
                      <a:r>
                        <a:rPr lang="en-US" sz="13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09</a:t>
                      </a:r>
                      <a:r>
                        <a:rPr lang="en-US" sz="13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/2025 </a:t>
                      </a:r>
                      <a:endParaRPr lang="en-US" sz="13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to</a:t>
                      </a:r>
                      <a:endParaRPr lang="en-US" sz="13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 panose="020B0604020202020204"/>
                        <a:buNone/>
                      </a:pPr>
                      <a:r>
                        <a:rPr lang="en-US" sz="13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27</a:t>
                      </a:r>
                      <a:r>
                        <a:rPr lang="en-US" sz="13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/</a:t>
                      </a:r>
                      <a:r>
                        <a:rPr lang="en-US" sz="13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09</a:t>
                      </a:r>
                      <a:r>
                        <a:rPr lang="en-US" sz="13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/2025</a:t>
                      </a:r>
                      <a:endParaRPr lang="en-US" sz="13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marL="43180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Font typeface="Arial" panose="020B0604020202020204" pitchFamily="34" charset="0"/>
                        <a:buChar char="•"/>
                      </a:pPr>
                      <a:r>
                        <a:rPr lang="en-US" sz="13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Finalized the technical design for the Semi-Supervised Learning (SSL) pipeline, confirming the use of the EMA-Teacher framework.</a:t>
                      </a:r>
                      <a:endParaRPr sz="160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  <a:p>
                      <a:pPr marL="43180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Font typeface="Arial" panose="020B0604020202020204" pitchFamily="34" charset="0"/>
                        <a:buChar char="•"/>
                      </a:pPr>
                      <a:r>
                        <a:rPr lang="en-US" sz="13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Final check on the presentation slides and literature survey table.</a:t>
                      </a:r>
                      <a:endParaRPr lang="en-US" sz="130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  <a:p>
                      <a:pPr marL="914400" marR="0" lvl="1" indent="-3175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○"/>
                      </a:pPr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50" marR="91450" marT="45725" marB="45725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 panose="020B0604020202020204"/>
                        <a:buNone/>
                      </a:pPr>
                      <a:r>
                        <a:rPr lang="en-US" sz="13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Yes</a:t>
                      </a:r>
                      <a:endParaRPr lang="en-US" sz="13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4F9ED"/>
                    </a:solidFill>
                  </a:tcPr>
                </a:tc>
              </a:tr>
            </a:tbl>
          </a:graphicData>
        </a:graphic>
      </p:graphicFrame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rcRect r="4396" b="-20423"/>
          <a:stretch>
            <a:fillRect/>
          </a:stretch>
        </p:blipFill>
        <p:spPr>
          <a:xfrm>
            <a:off x="0" y="6541135"/>
            <a:ext cx="8741410" cy="38036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3"/>
          <p:cNvSpPr txBox="1"/>
          <p:nvPr>
            <p:ph type="title"/>
          </p:nvPr>
        </p:nvSpPr>
        <p:spPr>
          <a:xfrm>
            <a:off x="40640" y="30480"/>
            <a:ext cx="8328752" cy="694064"/>
          </a:xfrm>
          <a:prstGeom prst="rect">
            <a:avLst/>
          </a:prstGeom>
          <a:solidFill>
            <a:srgbClr val="0037A4"/>
          </a:solidFill>
          <a:ln w="317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90805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Supervisor </a:t>
            </a:r>
            <a:r>
              <a:rPr lang="en-US"/>
              <a:t>Interactions </a:t>
            </a:r>
            <a:r>
              <a:rPr lang="en-US" b="0"/>
              <a:t>(as mentioned in weekly log)</a:t>
            </a:r>
            <a:endParaRPr b="0"/>
          </a:p>
        </p:txBody>
      </p:sp>
      <p:sp>
        <p:nvSpPr>
          <p:cNvPr id="166" name="Google Shape;166;p23"/>
          <p:cNvSpPr txBox="1"/>
          <p:nvPr/>
        </p:nvSpPr>
        <p:spPr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525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 panose="020B0604020202020204"/>
              <a:buNone/>
            </a:pPr>
            <a:endParaRPr sz="1800">
              <a:solidFill>
                <a:schemeClr val="dk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  <p:graphicFrame>
        <p:nvGraphicFramePr>
          <p:cNvPr id="167" name="Google Shape;167;p23"/>
          <p:cNvGraphicFramePr/>
          <p:nvPr/>
        </p:nvGraphicFramePr>
        <p:xfrm>
          <a:off x="110168" y="881350"/>
          <a:ext cx="8956700" cy="5088475"/>
        </p:xfrm>
        <a:graphic>
          <a:graphicData uri="http://schemas.openxmlformats.org/drawingml/2006/table">
            <a:tbl>
              <a:tblPr firstRow="1" bandRow="1">
                <a:noFill/>
                <a:tableStyleId>{0FDD740C-D32F-4F01-9374-D45B8AFD0EE1}</a:tableStyleId>
              </a:tblPr>
              <a:tblGrid>
                <a:gridCol w="660775"/>
                <a:gridCol w="1382950"/>
                <a:gridCol w="5673325"/>
                <a:gridCol w="1239650"/>
              </a:tblGrid>
              <a:tr h="427325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i="0">
                          <a:solidFill>
                            <a:schemeClr val="dk1"/>
                          </a:solidFill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No. of Meetings with Supervisor: </a:t>
                      </a:r>
                      <a:endParaRPr lang="en-US" sz="1300" b="1" i="0">
                        <a:solidFill>
                          <a:schemeClr val="dk1"/>
                        </a:solidFill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 anchor="ctr">
                    <a:solidFill>
                      <a:srgbClr val="D5D59B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508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>
                          <a:solidFill>
                            <a:schemeClr val="dk1"/>
                          </a:solidFill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Week No.</a:t>
                      </a:r>
                      <a:endParaRPr lang="en-US" sz="1300" b="0" i="0">
                        <a:solidFill>
                          <a:schemeClr val="dk1"/>
                        </a:solidFill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>
                          <a:solidFill>
                            <a:schemeClr val="dk1"/>
                          </a:solidFill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Duration</a:t>
                      </a:r>
                      <a:endParaRPr lang="en-US" sz="1300" b="0" i="0">
                        <a:solidFill>
                          <a:schemeClr val="dk1"/>
                        </a:solidFill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>
                          <a:solidFill>
                            <a:schemeClr val="dk1"/>
                          </a:solidFill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Remarks (</a:t>
                      </a:r>
                      <a:r>
                        <a:rPr lang="en-US" sz="1300" b="1" i="0">
                          <a:solidFill>
                            <a:schemeClr val="dk1"/>
                          </a:solidFill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as mentioned in the weekly log</a:t>
                      </a:r>
                      <a:r>
                        <a:rPr lang="en-US" sz="1300" b="0" i="0">
                          <a:solidFill>
                            <a:schemeClr val="dk1"/>
                          </a:solidFill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)</a:t>
                      </a:r>
                      <a:endParaRPr lang="en-US" sz="1300" b="0" i="0">
                        <a:solidFill>
                          <a:schemeClr val="dk1"/>
                        </a:solidFill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>
                          <a:solidFill>
                            <a:schemeClr val="dk1"/>
                          </a:solidFill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Incorporated</a:t>
                      </a:r>
                      <a:endParaRPr lang="en-US" sz="1300" b="0" i="0">
                        <a:solidFill>
                          <a:schemeClr val="dk1"/>
                        </a:solidFill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>
                          <a:solidFill>
                            <a:schemeClr val="dk1"/>
                          </a:solidFill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(Yes/No)</a:t>
                      </a:r>
                      <a:endParaRPr lang="en-US" sz="1300" b="0" i="0">
                        <a:solidFill>
                          <a:schemeClr val="dk1"/>
                        </a:solidFill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D5D59B"/>
                    </a:solidFill>
                  </a:tcPr>
                </a:tc>
              </a:tr>
              <a:tr h="830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6.</a:t>
                      </a:r>
                      <a:endParaRPr lang="en-US" sz="13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27</a:t>
                      </a:r>
                      <a:r>
                        <a:rPr lang="en-US" sz="13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/</a:t>
                      </a:r>
                      <a:r>
                        <a:rPr lang="en-US" sz="13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09</a:t>
                      </a:r>
                      <a:r>
                        <a:rPr lang="en-US" sz="13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/2025 </a:t>
                      </a:r>
                      <a:endParaRPr lang="en-US" sz="13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to</a:t>
                      </a:r>
                      <a:endParaRPr lang="en-US" sz="13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 panose="020B0604020202020204"/>
                        <a:buNone/>
                      </a:pPr>
                      <a:r>
                        <a:rPr lang="en-US" sz="13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31/</a:t>
                      </a:r>
                      <a:r>
                        <a:rPr lang="en-US" sz="13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09</a:t>
                      </a:r>
                      <a:r>
                        <a:rPr lang="en-US" sz="13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/2025</a:t>
                      </a:r>
                      <a:endParaRPr lang="en-US" sz="13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marL="43180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300" b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Began data preprocessing pipeline; downloaded xBD dataset subset.</a:t>
                      </a:r>
                      <a:endParaRPr lang="en-US" altLang="en-US" sz="1300" b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  <a:p>
                      <a:pPr marL="43180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300" b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Wrote scripts for JSON parsing and creating 224x224 image crops.</a:t>
                      </a:r>
                      <a:endParaRPr lang="en-US" altLang="en-US" sz="1300" b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  <a:p>
                      <a:pPr marL="43180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300" b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Finalized image standardization functions.</a:t>
                      </a:r>
                      <a:endParaRPr lang="en-US" altLang="en-US" sz="1300" b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 panose="020B0604020202020204"/>
                        <a:buNone/>
                      </a:pPr>
                      <a:r>
                        <a:rPr lang="en-US" sz="13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Yes</a:t>
                      </a:r>
                      <a:endParaRPr lang="en-US" sz="13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4F9ED"/>
                    </a:solidFill>
                  </a:tcPr>
                </a:tc>
              </a:tr>
              <a:tr h="830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7.</a:t>
                      </a:r>
                      <a:endParaRPr lang="en-US" sz="13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03/11/2025 </a:t>
                      </a:r>
                      <a:endParaRPr lang="en-US" sz="13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to</a:t>
                      </a:r>
                      <a:endParaRPr lang="en-US" sz="13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 panose="020B0604020202020204"/>
                        <a:buNone/>
                      </a:pPr>
                      <a:r>
                        <a:rPr lang="en-US" sz="13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7</a:t>
                      </a:r>
                      <a:r>
                        <a:rPr lang="en-US" sz="13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/11/2025</a:t>
                      </a:r>
                      <a:endParaRPr lang="en-US" sz="13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43180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3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Finalized data augmentation strategies (weak/strong).</a:t>
                      </a:r>
                      <a:endParaRPr lang="en-US" altLang="en-US" sz="130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  <a:p>
                      <a:pPr marL="43180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3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Organized dataset into Training and Validation splits.</a:t>
                      </a:r>
                      <a:endParaRPr lang="en-US" altLang="en-US" sz="130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  <a:p>
                      <a:pPr marL="43180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3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Prepared DataLoaders for the supervised baseline.</a:t>
                      </a:r>
                      <a:endParaRPr lang="en-US" altLang="en-US" sz="130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 panose="020B0604020202020204"/>
                        <a:buNone/>
                      </a:pPr>
                      <a:r>
                        <a:rPr lang="en-US" sz="13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Yes</a:t>
                      </a:r>
                      <a:endParaRPr lang="en-US" sz="13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0F0DD"/>
                    </a:solidFill>
                  </a:tcPr>
                </a:tc>
              </a:tr>
              <a:tr h="830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8.</a:t>
                      </a:r>
                      <a:endParaRPr lang="en-US" sz="13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10</a:t>
                      </a:r>
                      <a:r>
                        <a:rPr lang="en-US" sz="13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/11/2025 </a:t>
                      </a:r>
                      <a:endParaRPr lang="en-US" sz="13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to</a:t>
                      </a:r>
                      <a:endParaRPr lang="en-US" sz="13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 panose="020B0604020202020204"/>
                        <a:buNone/>
                      </a:pPr>
                      <a:r>
                        <a:rPr lang="en-US" sz="13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14/11/2025</a:t>
                      </a:r>
                      <a:endParaRPr lang="en-US" sz="13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marL="43180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300">
                          <a:latin typeface="Times New Roman" panose="02020603050405020304" charset="0"/>
                          <a:cs typeface="Times New Roman" panose="02020603050405020304" charset="0"/>
                        </a:rPr>
                        <a:t>Implemented the Supervised Baseline Model using Transfer Learning. </a:t>
                      </a:r>
                      <a:endParaRPr lang="en-US" altLang="en-US" sz="13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marL="43180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300">
                          <a:latin typeface="Times New Roman" panose="02020603050405020304" charset="0"/>
                          <a:cs typeface="Times New Roman" panose="02020603050405020304" charset="0"/>
                        </a:rPr>
                        <a:t>Integrated the ViT-Tiny architecture with 6-channel input support.</a:t>
                      </a:r>
                      <a:endParaRPr lang="en-US" altLang="en-US" sz="13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marL="43180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300">
                          <a:latin typeface="Times New Roman" panose="02020603050405020304" charset="0"/>
                          <a:cs typeface="Times New Roman" panose="02020603050405020304" charset="0"/>
                        </a:rPr>
                        <a:t>Trained the model on the labeled dataset to establish performance benchmarks.</a:t>
                      </a:r>
                      <a:endParaRPr lang="en-US" altLang="en-US" sz="13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50" marR="91450" marT="45725" marB="45725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 panose="020B0604020202020204"/>
                        <a:buNone/>
                      </a:pPr>
                      <a:r>
                        <a:rPr lang="en-US" sz="13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Yes</a:t>
                      </a:r>
                      <a:endParaRPr lang="en-US" sz="13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4F9ED"/>
                    </a:solidFill>
                  </a:tcPr>
                </a:tc>
              </a:tr>
              <a:tr h="830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9.</a:t>
                      </a:r>
                      <a:endParaRPr lang="en-US" sz="13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17/11/2025 </a:t>
                      </a:r>
                      <a:endParaRPr lang="en-US" sz="13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to</a:t>
                      </a:r>
                      <a:endParaRPr lang="en-US" sz="13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 panose="020B0604020202020204"/>
                        <a:buNone/>
                      </a:pPr>
                      <a:r>
                        <a:rPr lang="en-US" sz="13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21</a:t>
                      </a:r>
                      <a:r>
                        <a:rPr lang="en-US" sz="13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/11/2025</a:t>
                      </a:r>
                      <a:endParaRPr lang="en-US" sz="13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43180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300">
                          <a:latin typeface="Times New Roman" panose="02020603050405020304" charset="0"/>
                          <a:cs typeface="Times New Roman" panose="02020603050405020304" charset="0"/>
                        </a:rPr>
                        <a:t>Conducted model evaluation (calculated mIoU and Kappa metrics).</a:t>
                      </a:r>
                      <a:endParaRPr lang="en-US" altLang="en-US" sz="13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marL="43180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300">
                          <a:latin typeface="Times New Roman" panose="02020603050405020304" charset="0"/>
                          <a:cs typeface="Times New Roman" panose="02020603050405020304" charset="0"/>
                        </a:rPr>
                        <a:t>Developed the Streamlit real-time inference prototype.</a:t>
                      </a:r>
                      <a:endParaRPr lang="en-US" altLang="en-US" sz="13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marL="43180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300">
                          <a:latin typeface="Times New Roman" panose="02020603050405020304" charset="0"/>
                          <a:cs typeface="Times New Roman" panose="02020603050405020304" charset="0"/>
                        </a:rPr>
                        <a:t>Generated initial segmentation masks for visual validation.</a:t>
                      </a:r>
                      <a:endParaRPr lang="en-US" altLang="en-US" sz="13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50" marR="91450" marT="45725" marB="45725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 panose="020B0604020202020204"/>
                        <a:buNone/>
                      </a:pPr>
                      <a:r>
                        <a:rPr lang="en-US" sz="13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Yes</a:t>
                      </a:r>
                      <a:endParaRPr lang="en-US" sz="13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0F0DD"/>
                    </a:solidFill>
                  </a:tcPr>
                </a:tc>
              </a:tr>
              <a:tr h="830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10.</a:t>
                      </a:r>
                      <a:endParaRPr lang="en-US" sz="13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24</a:t>
                      </a:r>
                      <a:r>
                        <a:rPr lang="en-US" sz="13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/11/2025 </a:t>
                      </a:r>
                      <a:endParaRPr lang="en-US" sz="13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to</a:t>
                      </a:r>
                      <a:endParaRPr lang="en-US" sz="13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 panose="020B0604020202020204"/>
                        <a:buNone/>
                      </a:pPr>
                      <a:r>
                        <a:rPr lang="en-US" sz="13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28</a:t>
                      </a:r>
                      <a:r>
                        <a:rPr lang="en-US" sz="1300" b="0" i="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/11/2025</a:t>
                      </a:r>
                      <a:endParaRPr lang="en-US" sz="13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marL="43180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300">
                          <a:latin typeface="Times New Roman" panose="02020603050405020304" charset="0"/>
                          <a:cs typeface="Times New Roman" panose="02020603050405020304" charset="0"/>
                        </a:rPr>
                        <a:t>Finalized Project Report (Chapters 1-6) and incorporated supervisor feedback.</a:t>
                      </a:r>
                      <a:endParaRPr lang="en-US" altLang="en-US" sz="13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marL="43180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300">
                          <a:latin typeface="Times New Roman" panose="02020603050405020304" charset="0"/>
                          <a:cs typeface="Times New Roman" panose="02020603050405020304" charset="0"/>
                        </a:rPr>
                        <a:t>Defined Future Scope: SSL (EMA-Teacher), Grad-CAM, and Edge Deployment.</a:t>
                      </a:r>
                      <a:endParaRPr lang="en-US" altLang="en-US" sz="13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marL="43180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300">
                          <a:latin typeface="Times New Roman" panose="02020603050405020304" charset="0"/>
                          <a:cs typeface="Times New Roman" panose="02020603050405020304" charset="0"/>
                        </a:rPr>
                        <a:t>Prepared the final project presentation deliverables.</a:t>
                      </a:r>
                      <a:endParaRPr lang="en-US" altLang="en-US" sz="13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50" marR="91450" marT="45725" marB="45725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 panose="020B0604020202020204"/>
                        <a:buNone/>
                      </a:pPr>
                      <a:r>
                        <a:rPr lang="en-US" sz="1300">
                          <a:latin typeface="Times New Roman" panose="02020603050405020304" charset="0"/>
                          <a:ea typeface="Helvetica Neue" panose="020B0604020202020204"/>
                          <a:cs typeface="Times New Roman" panose="02020603050405020304" charset="0"/>
                          <a:sym typeface="Helvetica Neue" panose="020B0604020202020204"/>
                        </a:rPr>
                        <a:t>Yes</a:t>
                      </a:r>
                      <a:endParaRPr lang="en-US" sz="1300" b="0" i="0">
                        <a:latin typeface="Times New Roman" panose="02020603050405020304" charset="0"/>
                        <a:ea typeface="Helvetica Neue" panose="020B0604020202020204"/>
                        <a:cs typeface="Times New Roman" panose="02020603050405020304" charset="0"/>
                        <a:sym typeface="Helvetica Neue" panose="020B0604020202020204"/>
                      </a:endParaRPr>
                    </a:p>
                  </a:txBody>
                  <a:tcPr marL="91450" marR="91450" marT="45725" marB="45725">
                    <a:solidFill>
                      <a:srgbClr val="F4F9ED"/>
                    </a:solidFill>
                  </a:tcPr>
                </a:tc>
              </a:tr>
            </a:tbl>
          </a:graphicData>
        </a:graphic>
      </p:graphicFrame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rcRect r="4396" b="-20423"/>
          <a:stretch>
            <a:fillRect/>
          </a:stretch>
        </p:blipFill>
        <p:spPr>
          <a:xfrm>
            <a:off x="0" y="6532245"/>
            <a:ext cx="8741410" cy="38036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 lang="en-US" altLang="en-US"/>
              <a:t>Future Work</a:t>
            </a:r>
            <a:endParaRPr lang="en-US" altLang="en-US"/>
          </a:p>
        </p:txBody>
      </p:sp>
      <p:sp>
        <p:nvSpPr>
          <p:cNvPr id="3" name="Text Placeholder 2"/>
          <p:cNvSpPr/>
          <p:nvPr>
            <p:ph type="body" idx="1"/>
          </p:nvPr>
        </p:nvSpPr>
        <p:spPr/>
        <p:txBody>
          <a:bodyPr/>
          <a:p>
            <a:r>
              <a:rPr lang="en-US" altLang="en-US" sz="1500" b="1">
                <a:latin typeface="Times New Roman" panose="02020603050405020304" charset="0"/>
                <a:cs typeface="Times New Roman" panose="02020603050405020304" charset="0"/>
              </a:rPr>
              <a:t>Goal:</a:t>
            </a:r>
            <a:r>
              <a:rPr lang="en-US" altLang="en-US" sz="1500">
                <a:latin typeface="Times New Roman" panose="02020603050405020304" charset="0"/>
                <a:cs typeface="Times New Roman" panose="02020603050405020304" charset="0"/>
              </a:rPr>
              <a:t> Transition from a supervised baseline to a robust, semi-supervised system for real-world disaster scenarios.</a:t>
            </a:r>
            <a:endParaRPr lang="en-US" altLang="en-US" sz="15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500" b="1">
                <a:latin typeface="Times New Roman" panose="02020603050405020304" charset="0"/>
                <a:cs typeface="Times New Roman" panose="02020603050405020304" charset="0"/>
              </a:rPr>
              <a:t>Key Research Objectives:</a:t>
            </a:r>
            <a:endParaRPr lang="en-US" altLang="en-US" sz="1500" b="1">
              <a:latin typeface="Times New Roman" panose="02020603050405020304" charset="0"/>
              <a:cs typeface="Times New Roman" panose="0202060305040502030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1500" b="1">
                <a:latin typeface="Times New Roman" panose="02020603050405020304" charset="0"/>
                <a:cs typeface="Times New Roman" panose="02020603050405020304" charset="0"/>
              </a:rPr>
              <a:t>Semi-Supervised Learning (SSL):</a:t>
            </a:r>
            <a:endParaRPr lang="en-US" altLang="en-US" sz="1500" b="1">
              <a:latin typeface="Times New Roman" panose="02020603050405020304" charset="0"/>
              <a:cs typeface="Times New Roman" panose="02020603050405020304" charset="0"/>
            </a:endParaRP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1500">
                <a:latin typeface="Times New Roman" panose="02020603050405020304" charset="0"/>
                <a:cs typeface="Times New Roman" panose="02020603050405020304" charset="0"/>
              </a:rPr>
              <a:t>Implement the EMA-Teacher Framework.</a:t>
            </a:r>
            <a:endParaRPr lang="en-US" altLang="en-US" sz="1500">
              <a:latin typeface="Times New Roman" panose="02020603050405020304" charset="0"/>
              <a:cs typeface="Times New Roman" panose="02020603050405020304" charset="0"/>
            </a:endParaRP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1500">
                <a:latin typeface="Times New Roman" panose="02020603050405020304" charset="0"/>
                <a:cs typeface="Times New Roman" panose="02020603050405020304" charset="0"/>
              </a:rPr>
              <a:t>Leverage vast unlabeled xBD data to improve generalization without manual annotation.</a:t>
            </a:r>
            <a:endParaRPr lang="en-US" altLang="en-US" sz="1500">
              <a:latin typeface="Times New Roman" panose="02020603050405020304" charset="0"/>
              <a:cs typeface="Times New Roman" panose="0202060305040502030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1500" b="1">
                <a:latin typeface="Times New Roman" panose="02020603050405020304" charset="0"/>
                <a:cs typeface="Times New Roman" panose="02020603050405020304" charset="0"/>
              </a:rPr>
              <a:t>Explainable AI (XAI):</a:t>
            </a:r>
            <a:endParaRPr lang="en-US" altLang="en-US" sz="1500" b="1">
              <a:latin typeface="Times New Roman" panose="02020603050405020304" charset="0"/>
              <a:cs typeface="Times New Roman" panose="02020603050405020304" charset="0"/>
            </a:endParaRP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1500">
                <a:latin typeface="Times New Roman" panose="02020603050405020304" charset="0"/>
                <a:cs typeface="Times New Roman" panose="02020603050405020304" charset="0"/>
              </a:rPr>
              <a:t>Integrate Grad-CAM into the inference pipeline.</a:t>
            </a:r>
            <a:endParaRPr lang="en-US" altLang="en-US" sz="1500">
              <a:latin typeface="Times New Roman" panose="02020603050405020304" charset="0"/>
              <a:cs typeface="Times New Roman" panose="02020603050405020304" charset="0"/>
            </a:endParaRP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1500">
                <a:latin typeface="Times New Roman" panose="02020603050405020304" charset="0"/>
                <a:cs typeface="Times New Roman" panose="02020603050405020304" charset="0"/>
              </a:rPr>
              <a:t>Provide visual heatmaps to justify predictions (e.g., highlighting debris fields) for trusted decision-making.</a:t>
            </a:r>
            <a:endParaRPr lang="en-US" altLang="en-US" sz="1500">
              <a:latin typeface="Times New Roman" panose="02020603050405020304" charset="0"/>
              <a:cs typeface="Times New Roman" panose="0202060305040502030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1500" b="1">
                <a:latin typeface="Times New Roman" panose="02020603050405020304" charset="0"/>
                <a:cs typeface="Times New Roman" panose="02020603050405020304" charset="0"/>
              </a:rPr>
              <a:t>Multi-Modal Fusion:</a:t>
            </a:r>
            <a:endParaRPr lang="en-US" altLang="en-US" sz="1500" b="1">
              <a:latin typeface="Times New Roman" panose="02020603050405020304" charset="0"/>
              <a:cs typeface="Times New Roman" panose="02020603050405020304" charset="0"/>
            </a:endParaRP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1500">
                <a:latin typeface="Times New Roman" panose="02020603050405020304" charset="0"/>
                <a:cs typeface="Times New Roman" panose="02020603050405020304" charset="0"/>
              </a:rPr>
              <a:t>Incorporate Synthetic Aperture Radar (SAR) data.</a:t>
            </a:r>
            <a:endParaRPr lang="en-US" altLang="en-US" sz="1500">
              <a:latin typeface="Times New Roman" panose="02020603050405020304" charset="0"/>
              <a:cs typeface="Times New Roman" panose="02020603050405020304" charset="0"/>
            </a:endParaRP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1500">
                <a:latin typeface="Times New Roman" panose="02020603050405020304" charset="0"/>
                <a:cs typeface="Times New Roman" panose="02020603050405020304" charset="0"/>
              </a:rPr>
              <a:t>Enable all-weather damage assessment (penetrating clouds/smoke).</a:t>
            </a:r>
            <a:endParaRPr lang="en-US" altLang="en-US" sz="1500">
              <a:latin typeface="Times New Roman" panose="02020603050405020304" charset="0"/>
              <a:cs typeface="Times New Roman" panose="0202060305040502030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en-US" altLang="en-US" sz="15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rcRect r="4396" b="-20423"/>
          <a:stretch>
            <a:fillRect/>
          </a:stretch>
        </p:blipFill>
        <p:spPr>
          <a:xfrm>
            <a:off x="0" y="6532245"/>
            <a:ext cx="8741410" cy="38036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1"/>
          <p:cNvSpPr txBox="1"/>
          <p:nvPr>
            <p:ph type="title"/>
          </p:nvPr>
        </p:nvSpPr>
        <p:spPr>
          <a:xfrm>
            <a:off x="40640" y="30480"/>
            <a:ext cx="8328752" cy="694064"/>
          </a:xfrm>
          <a:prstGeom prst="rect">
            <a:avLst/>
          </a:prstGeom>
          <a:solidFill>
            <a:srgbClr val="0037A4"/>
          </a:solidFill>
          <a:ln w="317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90805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Project Plan</a:t>
            </a:r>
            <a:endParaRPr lang="en-US" sz="2400"/>
          </a:p>
        </p:txBody>
      </p:sp>
      <p:sp>
        <p:nvSpPr>
          <p:cNvPr id="152" name="Google Shape;152;p21"/>
          <p:cNvSpPr txBox="1"/>
          <p:nvPr/>
        </p:nvSpPr>
        <p:spPr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53" name="Google Shape;153;p21" title="Screenshot 2025-09-26 124847.pn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83925" y="1087125"/>
            <a:ext cx="8687474" cy="496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rcRect r="4396" b="-20423"/>
          <a:stretch>
            <a:fillRect/>
          </a:stretch>
        </p:blipFill>
        <p:spPr>
          <a:xfrm>
            <a:off x="0" y="6532245"/>
            <a:ext cx="8741410" cy="38036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5"/>
          <p:cNvSpPr txBox="1"/>
          <p:nvPr>
            <p:ph type="title"/>
          </p:nvPr>
        </p:nvSpPr>
        <p:spPr>
          <a:xfrm>
            <a:off x="40640" y="30480"/>
            <a:ext cx="8328752" cy="694064"/>
          </a:xfrm>
          <a:prstGeom prst="rect">
            <a:avLst/>
          </a:prstGeom>
          <a:solidFill>
            <a:srgbClr val="0037A4"/>
          </a:solidFill>
          <a:ln w="317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90805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References</a:t>
            </a:r>
            <a:endParaRPr lang="en-US" sz="2400"/>
          </a:p>
        </p:txBody>
      </p:sp>
      <p:sp>
        <p:nvSpPr>
          <p:cNvPr id="173" name="Google Shape;173;p25"/>
          <p:cNvSpPr txBox="1"/>
          <p:nvPr/>
        </p:nvSpPr>
        <p:spPr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[1] Turan, O. T., Kaya, H., Taskin, G., Cinar, T., &amp; Ilki, A., “A structural damage ranking using ConvNeXt for post-earthquake image classification”, </a:t>
            </a:r>
            <a:r>
              <a:rPr lang="en-US" i="1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Arabian Journal for Science and Engineering</a:t>
            </a:r>
            <a:r>
              <a:rPr lang="en-US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, 2025.</a:t>
            </a:r>
            <a:endParaRPr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[2] Wang, Z., Wu, C., Zhang, F., &amp; Xia, J., “Constructing an Extensible Building Damage Dataset via Semi-supervised Fine-Tuning across 12 Natural Disasters”, </a:t>
            </a:r>
            <a:r>
              <a:rPr lang="en-US" i="1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Journal of Remote Sensing</a:t>
            </a:r>
            <a:r>
              <a:rPr lang="en-US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, 2025.</a:t>
            </a:r>
            <a:endParaRPr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[3] Singh, D. K., &amp; Hoskere, V., “Post Disaster Damage Assessment Using Ultra-High-Resolution Aerial Imagery with Semi-Supervised Transformers”, </a:t>
            </a:r>
            <a:r>
              <a:rPr lang="en-US" i="1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Sensors</a:t>
            </a:r>
            <a:r>
              <a:rPr lang="en-US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, vol. 23, no. 19, 2023.</a:t>
            </a:r>
            <a:endParaRPr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[4] Sun, Y., Hu, J., Chen, F., Yu, B., &amp; Wang, L., “Post-disaster building damage assessment based on gated adaptive multi-scale spatial-frequency fusion network”, </a:t>
            </a:r>
            <a:r>
              <a:rPr lang="en-US" i="1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International Journal of Applied Earth Observation and Geoinformation</a:t>
            </a:r>
            <a:r>
              <a:rPr lang="en-US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, vol. 141, 2025.</a:t>
            </a:r>
            <a:endParaRPr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[5] Gupta, R., Hosfelt, R., Sajeev, S., Patel, N., Goodman, B., Doshi, J., Heim, E., Choset, H., &amp; Gaston, M., “xBD: A Dataset for Assessing Building Damage from Satellite Imagery”, </a:t>
            </a:r>
            <a:r>
              <a:rPr lang="en-US" i="1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arXiv preprint arXiv:1911.09296</a:t>
            </a:r>
            <a:r>
              <a:rPr lang="en-US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, 2019.</a:t>
            </a:r>
            <a:endParaRPr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[6] Li, J., Huang, H., Sheng, Y., Guo, Y., &amp; He, W., “BUILDING-GUIDED PSEUDO-LABEL LEARNING FOR CROSS-MODAL BUILDING DAMAGE MAPPING”, </a:t>
            </a:r>
            <a:r>
              <a:rPr lang="en-US" i="1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arXiv preprint arXiv:2505.04941</a:t>
            </a:r>
            <a:r>
              <a:rPr lang="en-US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, 2025.</a:t>
            </a:r>
            <a:endParaRPr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[7] Rao, A., Jung, J., Silva, V., Molinario, G., &amp; Yun, S.-H., “Earthquake building damage detection based on synthetic-aperture-radar imagery and machine learning”, </a:t>
            </a:r>
            <a:r>
              <a:rPr lang="en-US" i="1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Natural Hazards and Earth System Sciences</a:t>
            </a:r>
            <a:r>
              <a:rPr lang="en-US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, vol. 23, no. 2, pp. 789–807, 2023.</a:t>
            </a:r>
            <a:endParaRPr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marR="0" lvl="0" indent="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Times New Roman" panose="02020603050405020304" charset="0"/>
              <a:ea typeface="Helvetica Neue" panose="020B0604020202020204"/>
              <a:cs typeface="Times New Roman" panose="02020603050405020304" charset="0"/>
              <a:sym typeface="Helvetica Neue" panose="020B0604020202020204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rcRect r="4396" b="-20423"/>
          <a:stretch>
            <a:fillRect/>
          </a:stretch>
        </p:blipFill>
        <p:spPr>
          <a:xfrm>
            <a:off x="0" y="6532245"/>
            <a:ext cx="8741410" cy="38036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6"/>
          <p:cNvSpPr txBox="1"/>
          <p:nvPr>
            <p:ph type="title"/>
          </p:nvPr>
        </p:nvSpPr>
        <p:spPr>
          <a:xfrm>
            <a:off x="40640" y="30480"/>
            <a:ext cx="8328752" cy="694064"/>
          </a:xfrm>
          <a:prstGeom prst="rect">
            <a:avLst/>
          </a:prstGeom>
          <a:solidFill>
            <a:srgbClr val="0037A4"/>
          </a:solidFill>
          <a:ln w="317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90805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References </a:t>
            </a:r>
            <a:r>
              <a:rPr lang="en-US" sz="2400" b="0"/>
              <a:t>(cont…)</a:t>
            </a:r>
            <a:endParaRPr lang="en-US" sz="2400" b="0"/>
          </a:p>
        </p:txBody>
      </p:sp>
      <p:sp>
        <p:nvSpPr>
          <p:cNvPr id="179" name="Google Shape;179;p26"/>
          <p:cNvSpPr txBox="1"/>
          <p:nvPr/>
        </p:nvSpPr>
        <p:spPr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[8] Lee, J., Xu, J. Z., Sohn, K., Lu, W., Berthelot, D., Gur, I., Khaitan, P., Huang, K.-W., Koupparis, K., &amp; Kowatsch, B., “Assessing Post-Disaster Damage from Satellite Imagery using Semi-Supervised Learning Techniques”, </a:t>
            </a:r>
            <a:r>
              <a:rPr lang="en-US" i="1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arXiv preprint arXiv:2011.14004</a:t>
            </a:r>
            <a:r>
              <a:rPr lang="en-US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, 2020.</a:t>
            </a:r>
            <a:endParaRPr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[9] Zhuang, X., Tran, T. V., Nguyen-Xuan, H., &amp; Rabczuk, T., “Deep learning-based post-earthquake structural damage level recognition”, </a:t>
            </a:r>
            <a:r>
              <a:rPr lang="en-US" i="1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Computers and Structures</a:t>
            </a:r>
            <a:r>
              <a:rPr lang="en-US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, vol. 315, 2025.</a:t>
            </a:r>
            <a:endParaRPr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[10] Appelle, A., “Semi-Supervised Classification of Images for Post-Earthquake Building Damage Assessment”, </a:t>
            </a:r>
            <a:r>
              <a:rPr lang="en-US" i="1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Stanford University CS230 Project Report</a:t>
            </a:r>
            <a:r>
              <a:rPr lang="en-US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, 2021.</a:t>
            </a:r>
            <a:endParaRPr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[11] Qiao, W., Shen, L., Wen, Q., Wen, Q., Tang, S., &amp; Li, Z., “Revolutionizing building damage detection: A novel weakly supervised approach using high-resolution remote sensing images”, </a:t>
            </a:r>
            <a:r>
              <a:rPr lang="en-US" i="1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International Journal of Digital Earth</a:t>
            </a:r>
            <a:r>
              <a:rPr lang="en-US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, vol. 17, no. 1, 2024.</a:t>
            </a:r>
            <a:endParaRPr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[12] Asadi, A., Baise, L. G., Sanon, C., Koch, M., Chatterjee, S., &amp; Moaveni, B., “Semi-Supervised Learning Method for the Augmentation of an Incomplete Image-Based Inventory of Earthquake-Induced Soil Liquefaction Surface Effects”, </a:t>
            </a:r>
            <a:r>
              <a:rPr lang="en-US" i="1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Remote Sensing</a:t>
            </a:r>
            <a:r>
              <a:rPr lang="en-US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, vol. 15, no. 19, 2023.</a:t>
            </a:r>
            <a:endParaRPr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[13] Weber, E., &amp; Kané, H., “Building Disaster Damage Assessment in Satellite Imagery with Multi-temporal Fusion”, </a:t>
            </a:r>
            <a:r>
              <a:rPr lang="en-US" i="1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arXiv preprint arXiv:2004.05525</a:t>
            </a:r>
            <a:r>
              <a:rPr lang="en-US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, 2020.</a:t>
            </a:r>
            <a:endParaRPr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[14] Nex, F., Duarte, D., Tonolo, F. G., &amp; Kerle, N., “Structural Building Damage Detection with Deep Learning: Assessment of a State-of-the-Art CNN in Operational Conditions”, </a:t>
            </a:r>
            <a:r>
              <a:rPr lang="en-US" i="1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Remote Sensing</a:t>
            </a:r>
            <a:r>
              <a:rPr lang="en-US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, vol. 11, no. 23, 2019.</a:t>
            </a:r>
            <a:endParaRPr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marR="0" lvl="0" indent="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Times New Roman" panose="02020603050405020304" charset="0"/>
              <a:ea typeface="Helvetica Neue" panose="020B0604020202020204"/>
              <a:cs typeface="Times New Roman" panose="02020603050405020304" charset="0"/>
              <a:sym typeface="Helvetica Neue" panose="020B0604020202020204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rcRect r="4396" b="-20423"/>
          <a:stretch>
            <a:fillRect/>
          </a:stretch>
        </p:blipFill>
        <p:spPr>
          <a:xfrm>
            <a:off x="0" y="6532245"/>
            <a:ext cx="8741410" cy="38036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7"/>
          <p:cNvSpPr txBox="1"/>
          <p:nvPr>
            <p:ph type="title"/>
          </p:nvPr>
        </p:nvSpPr>
        <p:spPr>
          <a:xfrm>
            <a:off x="40640" y="30480"/>
            <a:ext cx="8328752" cy="694064"/>
          </a:xfrm>
          <a:prstGeom prst="rect">
            <a:avLst/>
          </a:prstGeom>
          <a:solidFill>
            <a:srgbClr val="0037A4"/>
          </a:solidFill>
          <a:ln w="317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90805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References </a:t>
            </a:r>
            <a:r>
              <a:rPr lang="en-US" sz="2400" b="0"/>
              <a:t>(cont…)</a:t>
            </a:r>
            <a:endParaRPr sz="1800"/>
          </a:p>
        </p:txBody>
      </p:sp>
      <p:sp>
        <p:nvSpPr>
          <p:cNvPr id="185" name="Google Shape;185;p27"/>
          <p:cNvSpPr txBox="1"/>
          <p:nvPr/>
        </p:nvSpPr>
        <p:spPr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[15] Bai, Y., Chen, Y., et al., “Swin Transformer-Based Building Damage Assessment from Post-Event Aerial Imagery”, </a:t>
            </a:r>
            <a:r>
              <a:rPr lang="en-US" i="1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Remote Sensing</a:t>
            </a:r>
            <a:r>
              <a:rPr lang="en-US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, vol. 14, no. 21, 2022.</a:t>
            </a:r>
            <a:endParaRPr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[16] He, Y., Wang, J., et al., “MS4D-Net: Multitask-Based Semi-Supervised Semantic Segmentation Framework with Perturbed Dual Mean Teachers for Building Damage Assessment”, </a:t>
            </a:r>
            <a:r>
              <a:rPr lang="en-US" i="1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Remote Sensing</a:t>
            </a:r>
            <a:r>
              <a:rPr lang="en-US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, vol. 15, no. 2, 2023.</a:t>
            </a:r>
            <a:endParaRPr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[17] Chen, H., Nemni, E., et al., “Dual-tasks Siamese transformer framework for building damage assessment”, </a:t>
            </a:r>
            <a:r>
              <a:rPr lang="en-US" i="1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IGARSS 2022 - 2022 IEEE International Geoscience and Remote Sensing Symposium</a:t>
            </a:r>
            <a:r>
              <a:rPr lang="en-US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, 2022.</a:t>
            </a:r>
            <a:endParaRPr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[18] Tilon, S., Nex, F., Kerle, N., &amp; Vosselman, G., “Post-disaster building damage detection... using unsupervised and transferable anomaly detecting GANs”, </a:t>
            </a:r>
            <a:r>
              <a:rPr lang="en-US" i="1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Remote Sensing</a:t>
            </a:r>
            <a:r>
              <a:rPr lang="en-US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, vol. 12, no. 24, 2020.</a:t>
            </a:r>
            <a:endParaRPr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[19] Li, Y., Hu, W., et al., “Deep Learning for Post-Disaster Building Damage Assessment: A Review”, </a:t>
            </a:r>
            <a:r>
              <a:rPr lang="en-US" i="1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Remote Sensing</a:t>
            </a:r>
            <a:r>
              <a:rPr lang="en-US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, vol. 14, no. 23, 2022.</a:t>
            </a:r>
            <a:endParaRPr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[20] Zheng, Z., Zhong, Y., et al., “Building damage assessment for rapid disaster response with a deep object-based semantic change detection framework...”, </a:t>
            </a:r>
            <a:r>
              <a:rPr lang="en-US" i="1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Remote Sensing of Environment</a:t>
            </a:r>
            <a:r>
              <a:rPr lang="en-US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, vol. 265, 2021.</a:t>
            </a:r>
            <a:endParaRPr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 panose="020B0604020202020204"/>
              <a:buNone/>
            </a:pPr>
            <a:endParaRPr>
              <a:solidFill>
                <a:schemeClr val="dk1"/>
              </a:solidFill>
              <a:latin typeface="Times New Roman" panose="02020603050405020304" charset="0"/>
              <a:ea typeface="Helvetica Neue" panose="020B0604020202020204"/>
              <a:cs typeface="Times New Roman" panose="02020603050405020304" charset="0"/>
              <a:sym typeface="Helvetica Neue" panose="020B0604020202020204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rcRect r="4396" b="-20423"/>
          <a:stretch>
            <a:fillRect/>
          </a:stretch>
        </p:blipFill>
        <p:spPr>
          <a:xfrm>
            <a:off x="0" y="6532245"/>
            <a:ext cx="8741410" cy="38036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8"/>
          <p:cNvSpPr txBox="1"/>
          <p:nvPr/>
        </p:nvSpPr>
        <p:spPr>
          <a:xfrm>
            <a:off x="77118" y="804231"/>
            <a:ext cx="8956714" cy="5960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525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 panose="020B0604020202020204"/>
              <a:buNone/>
            </a:pPr>
            <a:endParaRPr sz="1400">
              <a:solidFill>
                <a:schemeClr val="dk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  <a:p>
            <a:pPr marL="95250" marR="0" lvl="0" indent="0" algn="just" rtl="0">
              <a:lnSpc>
                <a:spcPct val="150000"/>
              </a:lnSpc>
              <a:spcBef>
                <a:spcPts val="49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 panose="020B0604020202020204"/>
              <a:buNone/>
            </a:pPr>
            <a:endParaRPr sz="1400">
              <a:solidFill>
                <a:schemeClr val="dk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  <a:p>
            <a:pPr marL="95250" marR="0" lvl="0" indent="0" algn="just" rtl="0">
              <a:lnSpc>
                <a:spcPct val="150000"/>
              </a:lnSpc>
              <a:spcBef>
                <a:spcPts val="49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 panose="020B0604020202020204"/>
              <a:buNone/>
            </a:pPr>
            <a:endParaRPr sz="1400">
              <a:solidFill>
                <a:schemeClr val="dk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  <a:p>
            <a:pPr marL="95250" marR="0" lvl="0" indent="0" algn="just" rtl="0">
              <a:lnSpc>
                <a:spcPct val="150000"/>
              </a:lnSpc>
              <a:spcBef>
                <a:spcPts val="49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 panose="020B0604020202020204"/>
              <a:buNone/>
            </a:pPr>
            <a:endParaRPr sz="1400">
              <a:solidFill>
                <a:schemeClr val="dk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  <a:p>
            <a:pPr marL="95250" marR="0" lvl="0" indent="0" algn="just" rtl="0">
              <a:lnSpc>
                <a:spcPct val="150000"/>
              </a:lnSpc>
              <a:spcBef>
                <a:spcPts val="49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 panose="020B0604020202020204"/>
              <a:buNone/>
            </a:pPr>
            <a:endParaRPr sz="1400">
              <a:solidFill>
                <a:schemeClr val="dk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  <a:p>
            <a:pPr marL="95250" marR="0" lvl="0" indent="0" algn="ctr" rtl="0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 panose="020B0604020202020204"/>
              <a:buNone/>
            </a:pPr>
            <a:endParaRPr sz="2000" b="1">
              <a:solidFill>
                <a:schemeClr val="dk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  <a:p>
            <a:pPr marL="95250" marR="0" lvl="0" indent="0" algn="ctr" rtl="0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 panose="020B0604020202020204"/>
              <a:buNone/>
            </a:pPr>
            <a:r>
              <a:rPr lang="en-US" sz="2000" b="1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Thanks</a:t>
            </a:r>
            <a:r>
              <a:rPr lang="en-US" sz="1400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.</a:t>
            </a:r>
            <a:endParaRPr lang="en-US" sz="1400">
              <a:solidFill>
                <a:schemeClr val="dk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  <p:pic>
        <p:nvPicPr>
          <p:cNvPr id="191" name="Google Shape;191;p28" descr="🙏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189164" y="2663328"/>
            <a:ext cx="765672" cy="7656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rcRect r="4396" b="-20423"/>
          <a:stretch>
            <a:fillRect/>
          </a:stretch>
        </p:blipFill>
        <p:spPr>
          <a:xfrm>
            <a:off x="0" y="6532245"/>
            <a:ext cx="8741410" cy="38036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720*465"/>
  <p:tag name="TABLE_ENDDRAG_RECT" val="0*54*720*465"/>
</p:tagLst>
</file>

<file path=ppt/tags/tag2.xml><?xml version="1.0" encoding="utf-8"?>
<p:tagLst xmlns:p="http://schemas.openxmlformats.org/presentationml/2006/main">
  <p:tag name="TABLE_ENDDRAG_ORIGIN_RECT" val="724*464"/>
  <p:tag name="TABLE_ENDDRAG_RECT" val="-2*54*724*464"/>
</p:tagLst>
</file>

<file path=ppt/tags/tag3.xml><?xml version="1.0" encoding="utf-8"?>
<p:tagLst xmlns:p="http://schemas.openxmlformats.org/presentationml/2006/main">
  <p:tag name="TABLE_ENDDRAG_ORIGIN_RECT" val="726*465"/>
  <p:tag name="TABLE_ENDDRAG_RECT" val="0*54*726*465"/>
</p:tagLst>
</file>

<file path=ppt/tags/tag4.xml><?xml version="1.0" encoding="utf-8"?>
<p:tagLst xmlns:p="http://schemas.openxmlformats.org/presentationml/2006/main">
  <p:tag name="TABLE_ENDDRAG_ORIGIN_RECT" val="720*463"/>
  <p:tag name="TABLE_ENDDRAG_RECT" val="0*57*720*463"/>
</p:tagLst>
</file>

<file path=ppt/tags/tag5.xml><?xml version="1.0" encoding="utf-8"?>
<p:tagLst xmlns:p="http://schemas.openxmlformats.org/presentationml/2006/main">
  <p:tag name="TABLE_ENDDRAG_ORIGIN_RECT" val="720*482"/>
  <p:tag name="TABLE_ENDDRAG_RECT" val="0*57*720*482"/>
</p:tagLst>
</file>

<file path=ppt/tags/tag6.xml><?xml version="1.0" encoding="utf-8"?>
<p:tagLst xmlns:p="http://schemas.openxmlformats.org/presentationml/2006/main">
  <p:tag name="TABLE_ENDDRAG_ORIGIN_RECT" val="619*75"/>
  <p:tag name="TABLE_ENDDRAG_RECT" val="50*61*619*75"/>
</p:tagLst>
</file>

<file path=ppt/tags/tag7.xml><?xml version="1.0" encoding="utf-8"?>
<p:tagLst xmlns:p="http://schemas.openxmlformats.org/presentationml/2006/main">
  <p:tag name="TABLE_ENDDRAG_ORIGIN_RECT" val="727*465"/>
  <p:tag name="TABLE_ENDDRAG_RECT" val="0*57*727*465"/>
</p:tagLst>
</file>

<file path=ppt/tags/tag8.xml><?xml version="1.0" encoding="utf-8"?>
<p:tagLst xmlns:p="http://schemas.openxmlformats.org/presentationml/2006/main">
  <p:tag name="TABLE_ENDDRAG_ORIGIN_RECT" val="705*425"/>
  <p:tag name="TABLE_ENDDRAG_RECT" val="8*69*705*425"/>
</p:tagLst>
</file>

<file path=ppt/theme/theme1.xml><?xml version="1.0" encoding="utf-8"?>
<a:theme xmlns:a="http://schemas.openxmlformats.org/drawingml/2006/main" name="1_os-8">
  <a:themeElements>
    <a:clrScheme name="Custom 1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002060"/>
      </a:hlink>
      <a:folHlink>
        <a:srgbClr val="0070C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29510</Words>
  <Application>WPS Presentation</Application>
  <PresentationFormat/>
  <Paragraphs>900</Paragraphs>
  <Slides>33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51" baseType="lpstr">
      <vt:lpstr>Arial</vt:lpstr>
      <vt:lpstr>SimSun</vt:lpstr>
      <vt:lpstr>Wingdings</vt:lpstr>
      <vt:lpstr>Arial</vt:lpstr>
      <vt:lpstr>Helvetica Neue</vt:lpstr>
      <vt:lpstr>Courier New</vt:lpstr>
      <vt:lpstr>Arimo</vt:lpstr>
      <vt:lpstr>Segoe Print</vt:lpstr>
      <vt:lpstr>Palatino</vt:lpstr>
      <vt:lpstr>Palatino Linotype</vt:lpstr>
      <vt:lpstr>Verdana</vt:lpstr>
      <vt:lpstr>Times New Roman</vt:lpstr>
      <vt:lpstr>Calibri</vt:lpstr>
      <vt:lpstr>Tahoma</vt:lpstr>
      <vt:lpstr>Times New Roman</vt:lpstr>
      <vt:lpstr>Microsoft YaHei</vt:lpstr>
      <vt:lpstr>Arial Unicode MS</vt:lpstr>
      <vt:lpstr>1_os-8</vt:lpstr>
      <vt:lpstr>Explainable Semi-Supervised Learning for Post-Earthquake Building Damage Assessment</vt:lpstr>
      <vt:lpstr>Outline</vt:lpstr>
      <vt:lpstr>Introduction</vt:lpstr>
      <vt:lpstr>Problem Statement</vt:lpstr>
      <vt:lpstr>Objectives</vt:lpstr>
      <vt:lpstr>Literature Review</vt:lpstr>
      <vt:lpstr>Literature Review (cont…)</vt:lpstr>
      <vt:lpstr>Literature Review (cont…)</vt:lpstr>
      <vt:lpstr>Literature Review (cont…)</vt:lpstr>
      <vt:lpstr>Literature Review (cont…)</vt:lpstr>
      <vt:lpstr>Work Done (after Mid-Term Evaluation)</vt:lpstr>
      <vt:lpstr>Project Design</vt:lpstr>
      <vt:lpstr>Project Design (cont…)</vt:lpstr>
      <vt:lpstr>Project Design (cont…)</vt:lpstr>
      <vt:lpstr>Tools, Technologies and Languages</vt:lpstr>
      <vt:lpstr>Tools, Technologies and Languages (cont…)</vt:lpstr>
      <vt:lpstr>Dataset</vt:lpstr>
      <vt:lpstr>Implementation</vt:lpstr>
      <vt:lpstr>Implementation</vt:lpstr>
      <vt:lpstr>Implementation</vt:lpstr>
      <vt:lpstr>Experimental Results and Evaluation</vt:lpstr>
      <vt:lpstr>Experimental Results and Evaluation</vt:lpstr>
      <vt:lpstr>Experimental Results and Evaluation</vt:lpstr>
      <vt:lpstr>Key Learnings</vt:lpstr>
      <vt:lpstr>Work Contribution and Attendance</vt:lpstr>
      <vt:lpstr>Supervisor Interactions (as mentioned in weekly log)</vt:lpstr>
      <vt:lpstr>Supervisor Interactions (as mentioned in weekly log)</vt:lpstr>
      <vt:lpstr>Future Work</vt:lpstr>
      <vt:lpstr>Project Plan</vt:lpstr>
      <vt:lpstr>References</vt:lpstr>
      <vt:lpstr>References (cont…)</vt:lpstr>
      <vt:lpstr>References (cont…)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Explainable Semi-Supervised Learning for Post-Earthquake Building Damage Assessment</dc:title>
  <dc:creator>Marilyn Turnamian</dc:creator>
  <cp:lastModifiedBy>Asus</cp:lastModifiedBy>
  <cp:revision>15</cp:revision>
  <dcterms:created xsi:type="dcterms:W3CDTF">2025-12-02T16:46:00Z</dcterms:created>
  <dcterms:modified xsi:type="dcterms:W3CDTF">2025-12-06T19:16:31Z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6825E3E900D4442AA4582E6A828F7F9E_13</vt:lpwstr>
  </property>
  <property fmtid="{D5CDD505-2E9C-101B-9397-08002B2CF9AE}" pid="3" name="KSOProductBuildVer">
    <vt:lpwstr>1033-12.2.0.23155</vt:lpwstr>
  </property>
</Properties>
</file>